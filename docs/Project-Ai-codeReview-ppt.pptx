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73" r:id="rId5"/>
    <p:sldId id="258" r:id="rId6"/>
    <p:sldId id="261" r:id="rId7"/>
    <p:sldId id="265" r:id="rId8"/>
    <p:sldId id="260" r:id="rId9"/>
    <p:sldId id="272" r:id="rId10"/>
    <p:sldId id="274" r:id="rId11"/>
    <p:sldId id="266" r:id="rId12"/>
    <p:sldId id="267" r:id="rId13"/>
    <p:sldId id="259" r:id="rId14"/>
    <p:sldId id="269"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4BD777-37A9-43A8-B010-53FE3852698E}">
          <p14:sldIdLst>
            <p14:sldId id="256"/>
            <p14:sldId id="257"/>
            <p14:sldId id="264"/>
          </p14:sldIdLst>
        </p14:section>
        <p14:section name="Untitled Section" id="{7307711C-9608-4191-9EEF-59EA12CA526A}">
          <p14:sldIdLst>
            <p14:sldId id="273"/>
            <p14:sldId id="258"/>
            <p14:sldId id="261"/>
            <p14:sldId id="265"/>
            <p14:sldId id="260"/>
            <p14:sldId id="272"/>
            <p14:sldId id="274"/>
            <p14:sldId id="266"/>
            <p14:sldId id="267"/>
            <p14:sldId id="259"/>
            <p14:sldId id="269"/>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8/7/2026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8/7/2026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8/7/2026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02834" y="121493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IN" sz="3000" b="1" dirty="0">
                <a:solidFill>
                  <a:srgbClr val="FF0000"/>
                </a:solidFill>
                <a:latin typeface="Times New Roman" panose="02020603050405020304" pitchFamily="18" charset="0"/>
                <a:cs typeface="Times New Roman" panose="02020603050405020304" pitchFamily="18" charset="0"/>
              </a:rPr>
              <a:t>APPLIED MACHINE LEARNING FOR TEXT ANALYSIS</a:t>
            </a:r>
            <a:br>
              <a:rPr lang="en-US" sz="4000" b="1" dirty="0">
                <a:solidFill>
                  <a:srgbClr val="C00000"/>
                </a:solidFill>
                <a:latin typeface="+mn-lt"/>
              </a:rPr>
            </a:br>
            <a:r>
              <a:rPr lang="en-IN" sz="4000" b="1" dirty="0">
                <a:solidFill>
                  <a:srgbClr val="FF0000"/>
                </a:solidFill>
                <a:latin typeface="Times New Roman" panose="02020603050405020304" pitchFamily="18" charset="0"/>
                <a:cs typeface="Times New Roman" panose="02020603050405020304" pitchFamily="18" charset="0"/>
              </a:rPr>
              <a:t>(</a:t>
            </a:r>
            <a:r>
              <a:rPr lang="en-IN" sz="4000" dirty="0">
                <a:solidFill>
                  <a:srgbClr val="FF0000"/>
                </a:solidFill>
                <a:latin typeface="Times New Roman" panose="02020603050405020304" pitchFamily="18" charset="0"/>
                <a:cs typeface="Times New Roman" panose="02020603050405020304" pitchFamily="18" charset="0"/>
              </a:rPr>
              <a:t>24ALT3101)</a:t>
            </a:r>
            <a:br>
              <a:rPr lang="en-IN" sz="4000" dirty="0">
                <a:solidFill>
                  <a:srgbClr val="FF0000"/>
                </a:solidFill>
                <a:latin typeface="Times New Roman" panose="02020603050405020304" pitchFamily="18" charset="0"/>
                <a:cs typeface="Times New Roman" panose="02020603050405020304" pitchFamily="18" charset="0"/>
              </a:rPr>
            </a:br>
            <a:br>
              <a:rPr lang="en-US" sz="4000" b="1" dirty="0">
                <a:solidFill>
                  <a:srgbClr val="C00000"/>
                </a:solidFill>
                <a:latin typeface="+mn-lt"/>
              </a:rPr>
            </a:br>
            <a:r>
              <a:rPr lang="en-IN" sz="3200" b="1" dirty="0">
                <a:solidFill>
                  <a:srgbClr val="002060"/>
                </a:solidFill>
                <a:latin typeface="Times New Roman" panose="02020603050405020304" pitchFamily="18" charset="0"/>
                <a:cs typeface="Times New Roman" panose="02020603050405020304" pitchFamily="18" charset="0"/>
              </a:rPr>
              <a:t>AI Copilot Code Review using Large Language Models</a:t>
            </a:r>
            <a:endParaRPr lang="en-US" sz="3000" b="1" dirty="0">
              <a:solidFill>
                <a:srgbClr val="00206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612569" y="3729917"/>
            <a:ext cx="7324531" cy="1396014"/>
          </a:xfrm>
        </p:spPr>
        <p:txBody>
          <a:bodyPr/>
          <a:lstStyle/>
          <a:p>
            <a:r>
              <a:rPr lang="en-US" dirty="0">
                <a:solidFill>
                  <a:srgbClr val="0070C0"/>
                </a:solidFill>
              </a:rPr>
              <a:t>Team Members</a:t>
            </a:r>
          </a:p>
          <a:p>
            <a:r>
              <a:rPr lang="en-US" dirty="0">
                <a:solidFill>
                  <a:srgbClr val="0070C0"/>
                </a:solidFill>
              </a:rPr>
              <a:t>Name: BANDI SRIHITHA  </a:t>
            </a:r>
            <a:r>
              <a:rPr lang="en-US" dirty="0" err="1">
                <a:solidFill>
                  <a:srgbClr val="0070C0"/>
                </a:solidFill>
              </a:rPr>
              <a:t>Rollno</a:t>
            </a:r>
            <a:r>
              <a:rPr lang="en-US" dirty="0">
                <a:solidFill>
                  <a:srgbClr val="0070C0"/>
                </a:solidFill>
              </a:rPr>
              <a:t>: 2420030099</a:t>
            </a:r>
            <a:br>
              <a:rPr lang="en-US" dirty="0">
                <a:solidFill>
                  <a:srgbClr val="0070C0"/>
                </a:solidFill>
              </a:rPr>
            </a:br>
            <a:r>
              <a:rPr lang="en-US" dirty="0">
                <a:solidFill>
                  <a:srgbClr val="0070C0"/>
                </a:solidFill>
              </a:rPr>
              <a:t>Name: EMANI MAHATHI </a:t>
            </a:r>
            <a:r>
              <a:rPr lang="en-US" dirty="0" err="1">
                <a:solidFill>
                  <a:srgbClr val="0070C0"/>
                </a:solidFill>
              </a:rPr>
              <a:t>Rollno</a:t>
            </a:r>
            <a:r>
              <a:rPr lang="en-US" dirty="0">
                <a:solidFill>
                  <a:srgbClr val="0070C0"/>
                </a:solidFill>
              </a:rPr>
              <a:t>: 2420030093</a:t>
            </a:r>
            <a:br>
              <a:rPr lang="en-US" dirty="0">
                <a:solidFill>
                  <a:srgbClr val="0070C0"/>
                </a:solidFill>
              </a:rPr>
            </a:br>
            <a:r>
              <a:rPr lang="en-US" dirty="0">
                <a:solidFill>
                  <a:srgbClr val="0070C0"/>
                </a:solidFill>
              </a:rPr>
              <a:t>Name: PRATHIPATI PRANATHI </a:t>
            </a:r>
            <a:r>
              <a:rPr lang="en-US" dirty="0" err="1">
                <a:solidFill>
                  <a:srgbClr val="0070C0"/>
                </a:solidFill>
              </a:rPr>
              <a:t>Rollno</a:t>
            </a:r>
            <a:r>
              <a:rPr lang="en-US" dirty="0">
                <a:solidFill>
                  <a:srgbClr val="0070C0"/>
                </a:solidFill>
              </a:rPr>
              <a:t>: 2420030043</a:t>
            </a:r>
            <a:br>
              <a:rPr lang="en-US" dirty="0">
                <a:solidFill>
                  <a:srgbClr val="0070C0"/>
                </a:solidFill>
              </a:rPr>
            </a:b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IN" dirty="0"/>
              <a:t>Dr . KATANGURI SWANTHANA (CSE)</a:t>
            </a:r>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619836"/>
            <a:ext cx="5130572" cy="6601807"/>
          </a:xfrm>
          <a:prstGeom prst="rect">
            <a:avLst/>
          </a:prstGeom>
          <a:noFill/>
        </p:spPr>
        <p:txBody>
          <a:bodyPr wrap="none" rtlCol="0">
            <a:spAutoFit/>
          </a:bodyPr>
          <a:lstStyle/>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Problem Statement</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Objectives</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Literature Survey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Research Gap</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Innovation &amp; Creativity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Novelty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Feasibility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Project Plan</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Proposed Architecture/Methodology</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Datasets &amp; Technology Stack</a:t>
            </a:r>
          </a:p>
          <a:p>
            <a:pPr marL="457200" indent="-457200" fontAlgn="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References</a:t>
            </a:r>
          </a:p>
          <a:p>
            <a:pPr marL="457200" indent="-457200" fontAlgn="t">
              <a:lnSpc>
                <a:spcPct val="150000"/>
              </a:lnSpc>
              <a:buFont typeface="Arial" panose="020B0604020202020204" pitchFamily="34" charset="0"/>
              <a:buChar char="•"/>
            </a:pPr>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PROBLEM STATEMENT</a:t>
            </a:r>
          </a:p>
        </p:txBody>
      </p:sp>
      <p:sp>
        <p:nvSpPr>
          <p:cNvPr id="5" name="TextBox 4">
            <a:extLst>
              <a:ext uri="{FF2B5EF4-FFF2-40B4-BE49-F238E27FC236}">
                <a16:creationId xmlns:a16="http://schemas.microsoft.com/office/drawing/2014/main" id="{C56AE01A-437B-322C-EEEE-3044E32C60B2}"/>
              </a:ext>
            </a:extLst>
          </p:cNvPr>
          <p:cNvSpPr txBox="1"/>
          <p:nvPr/>
        </p:nvSpPr>
        <p:spPr>
          <a:xfrm>
            <a:off x="928983" y="1064361"/>
            <a:ext cx="10504327" cy="5028556"/>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Problem Statement</a:t>
            </a:r>
          </a:p>
          <a:p>
            <a:pPr algn="just">
              <a:lnSpc>
                <a:spcPct val="150000"/>
              </a:lnSpc>
            </a:pPr>
            <a:r>
              <a:rPr lang="en-IN" dirty="0">
                <a:latin typeface="Times New Roman" panose="02020603050405020304" pitchFamily="18" charset="0"/>
                <a:cs typeface="Times New Roman" panose="02020603050405020304" pitchFamily="18" charset="0"/>
              </a:rPr>
              <a:t>Software code review is essential for ensuring code quality, security, and maintainability. Traditional static analysis tools detect rule-based issues but lack contextual understanding, while Large Language Models (LLMs) generate intelligent suggestions but may produce inaccurate or unsupported recommendations. Existing approaches also lack repository awareness and issue prioritization. Therefore, an intelligent hybrid framework is required to generate accurate, explainable, and context-aware automated code reviews.</a:t>
            </a:r>
          </a:p>
          <a:p>
            <a:pPr>
              <a:buNone/>
            </a:pPr>
            <a:endParaRPr lang="en-IN" b="1"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Motivation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Manual code reviews are time-consuming.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Static </a:t>
            </a:r>
            <a:r>
              <a:rPr lang="en-IN" dirty="0" err="1">
                <a:latin typeface="Times New Roman" panose="02020603050405020304" pitchFamily="18" charset="0"/>
                <a:cs typeface="Times New Roman" panose="02020603050405020304" pitchFamily="18" charset="0"/>
              </a:rPr>
              <a:t>analyzers</a:t>
            </a:r>
            <a:r>
              <a:rPr lang="en-IN" dirty="0">
                <a:latin typeface="Times New Roman" panose="02020603050405020304" pitchFamily="18" charset="0"/>
                <a:cs typeface="Times New Roman" panose="02020603050405020304" pitchFamily="18" charset="0"/>
              </a:rPr>
              <a:t> lack contextual understanding.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LLMs may generate hallucinated suggestions.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Existing systems ignore repository context.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Developers need explainable AI-assisted reviews.</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DD7F1-012C-ECD9-7F3F-B57EDD02E4B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0F49506-52A9-FA4D-7498-F34794D7DA63}"/>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F435D37-165E-C1D5-FA0B-29B928F2B5EF}"/>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OBJECTIVES</a:t>
            </a:r>
          </a:p>
        </p:txBody>
      </p:sp>
      <p:sp>
        <p:nvSpPr>
          <p:cNvPr id="5" name="TextBox 4">
            <a:extLst>
              <a:ext uri="{FF2B5EF4-FFF2-40B4-BE49-F238E27FC236}">
                <a16:creationId xmlns:a16="http://schemas.microsoft.com/office/drawing/2014/main" id="{4C974733-29BE-42B5-CFA7-B4C0BF2DC24F}"/>
              </a:ext>
            </a:extLst>
          </p:cNvPr>
          <p:cNvSpPr txBox="1"/>
          <p:nvPr/>
        </p:nvSpPr>
        <p:spPr>
          <a:xfrm>
            <a:off x="1495280" y="981422"/>
            <a:ext cx="8887583" cy="4619854"/>
          </a:xfrm>
          <a:prstGeom prst="rect">
            <a:avLst/>
          </a:prstGeom>
          <a:noFill/>
        </p:spPr>
        <p:txBody>
          <a:bodyPr wrap="square">
            <a:spAutoFit/>
          </a:bodyPr>
          <a:lstStyle/>
          <a:p>
            <a:pPr lvl="0">
              <a:lnSpc>
                <a:spcPct val="150000"/>
              </a:lnSpc>
            </a:pPr>
            <a:r>
              <a:rPr lang="en-IN" b="1" dirty="0">
                <a:latin typeface="Times New Roman" panose="02020603050405020304" pitchFamily="18" charset="0"/>
                <a:cs typeface="Times New Roman" panose="02020603050405020304" pitchFamily="18" charset="0"/>
              </a:rPr>
              <a:t>Objectives:</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Develop</a:t>
            </a:r>
            <a:r>
              <a:rPr lang="en-IN" dirty="0">
                <a:latin typeface="Times New Roman" panose="02020603050405020304" pitchFamily="18" charset="0"/>
                <a:cs typeface="Times New Roman" panose="02020603050405020304" pitchFamily="18" charset="0"/>
              </a:rPr>
              <a:t> an AI-powered automated code review system using </a:t>
            </a:r>
            <a:r>
              <a:rPr lang="en-IN" b="1" dirty="0" err="1">
                <a:latin typeface="Times New Roman" panose="02020603050405020304" pitchFamily="18" charset="0"/>
                <a:cs typeface="Times New Roman" panose="02020603050405020304" pitchFamily="18" charset="0"/>
              </a:rPr>
              <a:t>CodeLlama</a:t>
            </a:r>
            <a:r>
              <a:rPr lang="en-IN" dirty="0">
                <a:latin typeface="Times New Roman" panose="02020603050405020304" pitchFamily="18" charset="0"/>
                <a:cs typeface="Times New Roman" panose="02020603050405020304" pitchFamily="18" charset="0"/>
              </a:rPr>
              <a:t> to generate intelligent and context-aware review suggestions. </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Support</a:t>
            </a:r>
            <a:r>
              <a:rPr lang="en-IN" dirty="0">
                <a:latin typeface="Times New Roman" panose="02020603050405020304" pitchFamily="18" charset="0"/>
                <a:cs typeface="Times New Roman" panose="02020603050405020304" pitchFamily="18" charset="0"/>
              </a:rPr>
              <a:t> automated code review for </a:t>
            </a:r>
            <a:r>
              <a:rPr lang="en-IN" b="1" dirty="0">
                <a:latin typeface="Times New Roman" panose="02020603050405020304" pitchFamily="18" charset="0"/>
                <a:cs typeface="Times New Roman" panose="02020603050405020304" pitchFamily="18" charset="0"/>
              </a:rPr>
              <a:t>Python, Java, and JavaScript</a:t>
            </a:r>
            <a:r>
              <a:rPr lang="en-IN" dirty="0">
                <a:latin typeface="Times New Roman" panose="02020603050405020304" pitchFamily="18" charset="0"/>
                <a:cs typeface="Times New Roman" panose="02020603050405020304" pitchFamily="18" charset="0"/>
              </a:rPr>
              <a:t> using language-specific static analysis tools. </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Integrate</a:t>
            </a: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CodeBERT</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FAISS</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Retrieval-Augmented Generation (RAG)</a:t>
            </a:r>
            <a:r>
              <a:rPr lang="en-IN" dirty="0">
                <a:latin typeface="Times New Roman" panose="02020603050405020304" pitchFamily="18" charset="0"/>
                <a:cs typeface="Times New Roman" panose="02020603050405020304" pitchFamily="18" charset="0"/>
              </a:rPr>
              <a:t> to retrieve relevant code context and improve review accuracy. </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Generate</a:t>
            </a:r>
            <a:r>
              <a:rPr lang="en-IN" dirty="0">
                <a:latin typeface="Times New Roman" panose="02020603050405020304" pitchFamily="18" charset="0"/>
                <a:cs typeface="Times New Roman" panose="02020603050405020304" pitchFamily="18" charset="0"/>
              </a:rPr>
              <a:t> explainable review comments with </a:t>
            </a:r>
            <a:r>
              <a:rPr lang="en-IN" b="1" dirty="0">
                <a:latin typeface="Times New Roman" panose="02020603050405020304" pitchFamily="18" charset="0"/>
                <a:cs typeface="Times New Roman" panose="02020603050405020304" pitchFamily="18" charset="0"/>
              </a:rPr>
              <a:t>issue descriptions, severity levels, confidence scores, and recommended code fixes</a:t>
            </a:r>
            <a:r>
              <a:rPr lang="en-IN" dirty="0">
                <a:latin typeface="Times New Roman" panose="02020603050405020304" pitchFamily="18" charset="0"/>
                <a:cs typeface="Times New Roman" panose="02020603050405020304" pitchFamily="18" charset="0"/>
              </a:rPr>
              <a:t>. </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Evaluate</a:t>
            </a:r>
            <a:r>
              <a:rPr lang="en-IN" dirty="0">
                <a:latin typeface="Times New Roman" panose="02020603050405020304" pitchFamily="18" charset="0"/>
                <a:cs typeface="Times New Roman" panose="02020603050405020304" pitchFamily="18" charset="0"/>
              </a:rPr>
              <a:t> the proposed framework using </a:t>
            </a:r>
            <a:r>
              <a:rPr lang="en-IN" b="1" dirty="0" err="1">
                <a:latin typeface="Times New Roman" panose="02020603050405020304" pitchFamily="18" charset="0"/>
                <a:cs typeface="Times New Roman" panose="02020603050405020304" pitchFamily="18" charset="0"/>
              </a:rPr>
              <a:t>CodeSearchNet</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CodeXGLUE</a:t>
            </a:r>
            <a:r>
              <a:rPr lang="en-IN" b="1" dirty="0">
                <a:latin typeface="Times New Roman" panose="02020603050405020304" pitchFamily="18" charset="0"/>
                <a:cs typeface="Times New Roman" panose="02020603050405020304" pitchFamily="18" charset="0"/>
              </a:rPr>
              <a:t>, and GitHub repositories</a:t>
            </a:r>
            <a:r>
              <a:rPr lang="en-IN" dirty="0">
                <a:latin typeface="Times New Roman" panose="02020603050405020304" pitchFamily="18" charset="0"/>
                <a:cs typeface="Times New Roman" panose="02020603050405020304" pitchFamily="18" charset="0"/>
              </a:rPr>
              <a:t> to measure review quality and overall system performance.</a:t>
            </a:r>
          </a:p>
        </p:txBody>
      </p:sp>
    </p:spTree>
    <p:extLst>
      <p:ext uri="{BB962C8B-B14F-4D97-AF65-F5344CB8AC3E}">
        <p14:creationId xmlns:p14="http://schemas.microsoft.com/office/powerpoint/2010/main" val="4200483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8" name="TextBox 7">
            <a:extLst>
              <a:ext uri="{FF2B5EF4-FFF2-40B4-BE49-F238E27FC236}">
                <a16:creationId xmlns:a16="http://schemas.microsoft.com/office/drawing/2014/main" id="{7D9B7B57-5AB2-CACF-A14F-58DBE9E81F1F}"/>
              </a:ext>
            </a:extLst>
          </p:cNvPr>
          <p:cNvSpPr txBox="1"/>
          <p:nvPr/>
        </p:nvSpPr>
        <p:spPr>
          <a:xfrm>
            <a:off x="395926" y="4645974"/>
            <a:ext cx="6097554" cy="2403863"/>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Common Research Challenges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Limited contextual code understanding.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Generic review recommendations.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Weak integration of review techniques.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Lack of issue prioritization, Limited multi-language support</a:t>
            </a:r>
            <a:r>
              <a:rPr lang="en-IN" dirty="0"/>
              <a:t>.</a:t>
            </a:r>
          </a:p>
          <a:p>
            <a:pPr lvl="0">
              <a:lnSpc>
                <a:spcPct val="150000"/>
              </a:lnSpc>
            </a:pPr>
            <a:endParaRPr lang="en-IN" dirty="0"/>
          </a:p>
        </p:txBody>
      </p:sp>
      <p:graphicFrame>
        <p:nvGraphicFramePr>
          <p:cNvPr id="4" name="Table 3">
            <a:extLst>
              <a:ext uri="{FF2B5EF4-FFF2-40B4-BE49-F238E27FC236}">
                <a16:creationId xmlns:a16="http://schemas.microsoft.com/office/drawing/2014/main" id="{80B5BAE2-D910-1B84-8EB1-9F473BDF9C23}"/>
              </a:ext>
            </a:extLst>
          </p:cNvPr>
          <p:cNvGraphicFramePr>
            <a:graphicFrameLocks noGrp="1"/>
          </p:cNvGraphicFramePr>
          <p:nvPr>
            <p:extLst>
              <p:ext uri="{D42A27DB-BD31-4B8C-83A1-F6EECF244321}">
                <p14:modId xmlns:p14="http://schemas.microsoft.com/office/powerpoint/2010/main" val="4114996702"/>
              </p:ext>
            </p:extLst>
          </p:nvPr>
        </p:nvGraphicFramePr>
        <p:xfrm>
          <a:off x="395926" y="753244"/>
          <a:ext cx="11438401" cy="3845560"/>
        </p:xfrm>
        <a:graphic>
          <a:graphicData uri="http://schemas.openxmlformats.org/drawingml/2006/table">
            <a:tbl>
              <a:tblPr firstRow="1" bandRow="1">
                <a:tableStyleId>{5C22544A-7EE6-4342-B048-85BDC9FD1C3A}</a:tableStyleId>
              </a:tblPr>
              <a:tblGrid>
                <a:gridCol w="2830909">
                  <a:extLst>
                    <a:ext uri="{9D8B030D-6E8A-4147-A177-3AD203B41FA5}">
                      <a16:colId xmlns:a16="http://schemas.microsoft.com/office/drawing/2014/main" val="2835533702"/>
                    </a:ext>
                  </a:extLst>
                </a:gridCol>
                <a:gridCol w="2869164">
                  <a:extLst>
                    <a:ext uri="{9D8B030D-6E8A-4147-A177-3AD203B41FA5}">
                      <a16:colId xmlns:a16="http://schemas.microsoft.com/office/drawing/2014/main" val="2360753373"/>
                    </a:ext>
                  </a:extLst>
                </a:gridCol>
                <a:gridCol w="2869164">
                  <a:extLst>
                    <a:ext uri="{9D8B030D-6E8A-4147-A177-3AD203B41FA5}">
                      <a16:colId xmlns:a16="http://schemas.microsoft.com/office/drawing/2014/main" val="298312028"/>
                    </a:ext>
                  </a:extLst>
                </a:gridCol>
                <a:gridCol w="2869164">
                  <a:extLst>
                    <a:ext uri="{9D8B030D-6E8A-4147-A177-3AD203B41FA5}">
                      <a16:colId xmlns:a16="http://schemas.microsoft.com/office/drawing/2014/main" val="2001720229"/>
                    </a:ext>
                  </a:extLst>
                </a:gridCol>
              </a:tblGrid>
              <a:tr h="370840">
                <a:tc>
                  <a:txBody>
                    <a:bodyPr/>
                    <a:lstStyle/>
                    <a:p>
                      <a:pPr>
                        <a:buNone/>
                      </a:pPr>
                      <a:r>
                        <a:rPr lang="en-IN" b="1" dirty="0">
                          <a:latin typeface="Times New Roman" panose="02020603050405020304" pitchFamily="18" charset="0"/>
                          <a:cs typeface="Times New Roman" panose="02020603050405020304" pitchFamily="18" charset="0"/>
                        </a:rPr>
                        <a:t>Research Paper</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Method</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dirty="0">
                          <a:latin typeface="Times New Roman" panose="02020603050405020304" pitchFamily="18" charset="0"/>
                          <a:cs typeface="Times New Roman" panose="02020603050405020304" pitchFamily="18" charset="0"/>
                        </a:rPr>
                        <a:t>Advantages</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Limitations</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45260641"/>
                  </a:ext>
                </a:extLst>
              </a:tr>
              <a:tr h="370840">
                <a:tc>
                  <a:txBody>
                    <a:bodyPr/>
                    <a:lstStyle/>
                    <a:p>
                      <a:pPr>
                        <a:buNone/>
                      </a:pPr>
                      <a:r>
                        <a:rPr lang="en-IN" dirty="0">
                          <a:latin typeface="Times New Roman" panose="02020603050405020304" pitchFamily="18" charset="0"/>
                          <a:cs typeface="Times New Roman" panose="02020603050405020304" pitchFamily="18" charset="0"/>
                        </a:rPr>
                        <a:t>AI-powered Code Review with LLMs (2024)</a:t>
                      </a:r>
                    </a:p>
                  </a:txBody>
                  <a:tcPr anchor="ctr"/>
                </a:tc>
                <a:tc>
                  <a:txBody>
                    <a:bodyPr/>
                    <a:lstStyle/>
                    <a:p>
                      <a:pPr>
                        <a:buNone/>
                      </a:pPr>
                      <a:r>
                        <a:rPr lang="en-IN">
                          <a:latin typeface="Times New Roman" panose="02020603050405020304" pitchFamily="18" charset="0"/>
                          <a:cs typeface="Times New Roman" panose="02020603050405020304" pitchFamily="18" charset="0"/>
                        </a:rPr>
                        <a:t>LLM-based Review</a:t>
                      </a:r>
                    </a:p>
                  </a:txBody>
                  <a:tcPr anchor="ctr"/>
                </a:tc>
                <a:tc>
                  <a:txBody>
                    <a:bodyPr/>
                    <a:lstStyle/>
                    <a:p>
                      <a:pPr>
                        <a:buNone/>
                      </a:pPr>
                      <a:r>
                        <a:rPr lang="en-IN">
                          <a:latin typeface="Times New Roman" panose="02020603050405020304" pitchFamily="18" charset="0"/>
                          <a:cs typeface="Times New Roman" panose="02020603050405020304" pitchFamily="18" charset="0"/>
                        </a:rPr>
                        <a:t>Intelligent suggestions</a:t>
                      </a:r>
                    </a:p>
                  </a:txBody>
                  <a:tcPr anchor="ctr"/>
                </a:tc>
                <a:tc>
                  <a:txBody>
                    <a:bodyPr/>
                    <a:lstStyle/>
                    <a:p>
                      <a:pPr>
                        <a:buNone/>
                      </a:pPr>
                      <a:r>
                        <a:rPr lang="en-IN">
                          <a:latin typeface="Times New Roman" panose="02020603050405020304" pitchFamily="18" charset="0"/>
                          <a:cs typeface="Times New Roman" panose="02020603050405020304" pitchFamily="18" charset="0"/>
                        </a:rPr>
                        <a:t>Limited repository context</a:t>
                      </a:r>
                    </a:p>
                  </a:txBody>
                  <a:tcPr anchor="ctr"/>
                </a:tc>
                <a:extLst>
                  <a:ext uri="{0D108BD9-81ED-4DB2-BD59-A6C34878D82A}">
                    <a16:rowId xmlns:a16="http://schemas.microsoft.com/office/drawing/2014/main" val="1145628248"/>
                  </a:ext>
                </a:extLst>
              </a:tr>
              <a:tr h="370840">
                <a:tc>
                  <a:txBody>
                    <a:bodyPr/>
                    <a:lstStyle/>
                    <a:p>
                      <a:pPr>
                        <a:buNone/>
                      </a:pPr>
                      <a:r>
                        <a:rPr lang="en-IN" dirty="0">
                          <a:latin typeface="Times New Roman" panose="02020603050405020304" pitchFamily="18" charset="0"/>
                          <a:cs typeface="Times New Roman" panose="02020603050405020304" pitchFamily="18" charset="0"/>
                        </a:rPr>
                        <a:t>Security Code Review using LLMs (2024)</a:t>
                      </a:r>
                    </a:p>
                  </a:txBody>
                  <a:tcPr anchor="ctr"/>
                </a:tc>
                <a:tc>
                  <a:txBody>
                    <a:bodyPr/>
                    <a:lstStyle/>
                    <a:p>
                      <a:pPr>
                        <a:buNone/>
                      </a:pPr>
                      <a:r>
                        <a:rPr lang="en-IN">
                          <a:latin typeface="Times New Roman" panose="02020603050405020304" pitchFamily="18" charset="0"/>
                          <a:cs typeface="Times New Roman" panose="02020603050405020304" pitchFamily="18" charset="0"/>
                        </a:rPr>
                        <a:t>GPT + Security Analysis</a:t>
                      </a:r>
                    </a:p>
                  </a:txBody>
                  <a:tcPr anchor="ctr"/>
                </a:tc>
                <a:tc>
                  <a:txBody>
                    <a:bodyPr/>
                    <a:lstStyle/>
                    <a:p>
                      <a:pPr>
                        <a:buNone/>
                      </a:pPr>
                      <a:r>
                        <a:rPr lang="en-IN">
                          <a:latin typeface="Times New Roman" panose="02020603050405020304" pitchFamily="18" charset="0"/>
                          <a:cs typeface="Times New Roman" panose="02020603050405020304" pitchFamily="18" charset="0"/>
                        </a:rPr>
                        <a:t>Better vulnerability detection</a:t>
                      </a:r>
                    </a:p>
                  </a:txBody>
                  <a:tcPr anchor="ctr"/>
                </a:tc>
                <a:tc>
                  <a:txBody>
                    <a:bodyPr/>
                    <a:lstStyle/>
                    <a:p>
                      <a:pPr>
                        <a:buNone/>
                      </a:pPr>
                      <a:r>
                        <a:rPr lang="en-IN">
                          <a:latin typeface="Times New Roman" panose="02020603050405020304" pitchFamily="18" charset="0"/>
                          <a:cs typeface="Times New Roman" panose="02020603050405020304" pitchFamily="18" charset="0"/>
                        </a:rPr>
                        <a:t>High false positives</a:t>
                      </a:r>
                    </a:p>
                  </a:txBody>
                  <a:tcPr anchor="ctr"/>
                </a:tc>
                <a:extLst>
                  <a:ext uri="{0D108BD9-81ED-4DB2-BD59-A6C34878D82A}">
                    <a16:rowId xmlns:a16="http://schemas.microsoft.com/office/drawing/2014/main" val="478968186"/>
                  </a:ext>
                </a:extLst>
              </a:tr>
              <a:tr h="370840">
                <a:tc>
                  <a:txBody>
                    <a:bodyPr/>
                    <a:lstStyle/>
                    <a:p>
                      <a:pPr>
                        <a:buNone/>
                      </a:pPr>
                      <a:r>
                        <a:rPr lang="en-IN">
                          <a:latin typeface="Times New Roman" panose="02020603050405020304" pitchFamily="18" charset="0"/>
                          <a:cs typeface="Times New Roman" panose="02020603050405020304" pitchFamily="18" charset="0"/>
                        </a:rPr>
                        <a:t>Evaluating Source Code Quality with LLMs (2024)</a:t>
                      </a:r>
                    </a:p>
                  </a:txBody>
                  <a:tcPr anchor="ctr"/>
                </a:tc>
                <a:tc>
                  <a:txBody>
                    <a:bodyPr/>
                    <a:lstStyle/>
                    <a:p>
                      <a:pPr>
                        <a:buNone/>
                      </a:pPr>
                      <a:r>
                        <a:rPr lang="en-IN" dirty="0">
                          <a:latin typeface="Times New Roman" panose="02020603050405020304" pitchFamily="18" charset="0"/>
                          <a:cs typeface="Times New Roman" panose="02020603050405020304" pitchFamily="18" charset="0"/>
                        </a:rPr>
                        <a:t>LLM Assessment</a:t>
                      </a:r>
                    </a:p>
                  </a:txBody>
                  <a:tcPr anchor="ctr"/>
                </a:tc>
                <a:tc>
                  <a:txBody>
                    <a:bodyPr/>
                    <a:lstStyle/>
                    <a:p>
                      <a:pPr>
                        <a:buNone/>
                      </a:pPr>
                      <a:r>
                        <a:rPr lang="en-IN">
                          <a:latin typeface="Times New Roman" panose="02020603050405020304" pitchFamily="18" charset="0"/>
                          <a:cs typeface="Times New Roman" panose="02020603050405020304" pitchFamily="18" charset="0"/>
                        </a:rPr>
                        <a:t>Improved maintainability</a:t>
                      </a:r>
                    </a:p>
                  </a:txBody>
                  <a:tcPr anchor="ctr"/>
                </a:tc>
                <a:tc>
                  <a:txBody>
                    <a:bodyPr/>
                    <a:lstStyle/>
                    <a:p>
                      <a:pPr>
                        <a:buNone/>
                      </a:pPr>
                      <a:r>
                        <a:rPr lang="en-IN">
                          <a:latin typeface="Times New Roman" panose="02020603050405020304" pitchFamily="18" charset="0"/>
                          <a:cs typeface="Times New Roman" panose="02020603050405020304" pitchFamily="18" charset="0"/>
                        </a:rPr>
                        <a:t>No static analysis</a:t>
                      </a:r>
                    </a:p>
                  </a:txBody>
                  <a:tcPr anchor="ctr"/>
                </a:tc>
                <a:extLst>
                  <a:ext uri="{0D108BD9-81ED-4DB2-BD59-A6C34878D82A}">
                    <a16:rowId xmlns:a16="http://schemas.microsoft.com/office/drawing/2014/main" val="2736765743"/>
                  </a:ext>
                </a:extLst>
              </a:tr>
              <a:tr h="370840">
                <a:tc>
                  <a:txBody>
                    <a:bodyPr/>
                    <a:lstStyle/>
                    <a:p>
                      <a:pPr>
                        <a:buNone/>
                      </a:pPr>
                      <a:r>
                        <a:rPr lang="en-IN">
                          <a:latin typeface="Times New Roman" panose="02020603050405020304" pitchFamily="18" charset="0"/>
                          <a:cs typeface="Times New Roman" panose="02020603050405020304" pitchFamily="18" charset="0"/>
                        </a:rPr>
                        <a:t>Hybrid LLM + Static Analysis (2025)</a:t>
                      </a:r>
                    </a:p>
                  </a:txBody>
                  <a:tcPr anchor="ctr"/>
                </a:tc>
                <a:tc>
                  <a:txBody>
                    <a:bodyPr/>
                    <a:lstStyle/>
                    <a:p>
                      <a:pPr>
                        <a:buNone/>
                      </a:pPr>
                      <a:r>
                        <a:rPr lang="en-IN" dirty="0">
                          <a:latin typeface="Times New Roman" panose="02020603050405020304" pitchFamily="18" charset="0"/>
                          <a:cs typeface="Times New Roman" panose="02020603050405020304" pitchFamily="18" charset="0"/>
                        </a:rPr>
                        <a:t>Static Analysis + RAG</a:t>
                      </a:r>
                    </a:p>
                  </a:txBody>
                  <a:tcPr anchor="ctr"/>
                </a:tc>
                <a:tc>
                  <a:txBody>
                    <a:bodyPr/>
                    <a:lstStyle/>
                    <a:p>
                      <a:pPr>
                        <a:buNone/>
                      </a:pPr>
                      <a:r>
                        <a:rPr lang="en-IN">
                          <a:latin typeface="Times New Roman" panose="02020603050405020304" pitchFamily="18" charset="0"/>
                          <a:cs typeface="Times New Roman" panose="02020603050405020304" pitchFamily="18" charset="0"/>
                        </a:rPr>
                        <a:t>Better review quality</a:t>
                      </a:r>
                    </a:p>
                  </a:txBody>
                  <a:tcPr anchor="ctr"/>
                </a:tc>
                <a:tc>
                  <a:txBody>
                    <a:bodyPr/>
                    <a:lstStyle/>
                    <a:p>
                      <a:pPr>
                        <a:buNone/>
                      </a:pPr>
                      <a:r>
                        <a:rPr lang="en-IN">
                          <a:latin typeface="Times New Roman" panose="02020603050405020304" pitchFamily="18" charset="0"/>
                          <a:cs typeface="Times New Roman" panose="02020603050405020304" pitchFamily="18" charset="0"/>
                        </a:rPr>
                        <a:t>Limited language support</a:t>
                      </a:r>
                    </a:p>
                  </a:txBody>
                  <a:tcPr anchor="ctr"/>
                </a:tc>
                <a:extLst>
                  <a:ext uri="{0D108BD9-81ED-4DB2-BD59-A6C34878D82A}">
                    <a16:rowId xmlns:a16="http://schemas.microsoft.com/office/drawing/2014/main" val="3440425199"/>
                  </a:ext>
                </a:extLst>
              </a:tr>
              <a:tr h="370840">
                <a:tc>
                  <a:txBody>
                    <a:bodyPr/>
                    <a:lstStyle/>
                    <a:p>
                      <a:pPr>
                        <a:buNone/>
                      </a:pPr>
                      <a:r>
                        <a:rPr lang="en-IN">
                          <a:latin typeface="Times New Roman" panose="02020603050405020304" pitchFamily="18" charset="0"/>
                          <a:cs typeface="Times New Roman" panose="02020603050405020304" pitchFamily="18" charset="0"/>
                        </a:rPr>
                        <a:t>Automated Code Review with Symbolic Reasoning (2025)</a:t>
                      </a:r>
                    </a:p>
                  </a:txBody>
                  <a:tcPr anchor="ctr"/>
                </a:tc>
                <a:tc>
                  <a:txBody>
                    <a:bodyPr/>
                    <a:lstStyle/>
                    <a:p>
                      <a:pPr>
                        <a:buNone/>
                      </a:pPr>
                      <a:r>
                        <a:rPr lang="en-IN" dirty="0">
                          <a:latin typeface="Times New Roman" panose="02020603050405020304" pitchFamily="18" charset="0"/>
                          <a:cs typeface="Times New Roman" panose="02020603050405020304" pitchFamily="18" charset="0"/>
                        </a:rPr>
                        <a:t>LLM + Reasoning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Better explanations</a:t>
                      </a:r>
                    </a:p>
                  </a:txBody>
                  <a:tcPr anchor="ctr"/>
                </a:tc>
                <a:tc>
                  <a:txBody>
                    <a:bodyPr/>
                    <a:lstStyle/>
                    <a:p>
                      <a:pPr>
                        <a:buNone/>
                      </a:pPr>
                      <a:r>
                        <a:rPr lang="en-IN" dirty="0">
                          <a:latin typeface="Times New Roman" panose="02020603050405020304" pitchFamily="18" charset="0"/>
                          <a:cs typeface="Times New Roman" panose="02020603050405020304" pitchFamily="18" charset="0"/>
                        </a:rPr>
                        <a:t>Higher computation</a:t>
                      </a:r>
                    </a:p>
                  </a:txBody>
                  <a:tcPr anchor="ctr"/>
                </a:tc>
                <a:extLst>
                  <a:ext uri="{0D108BD9-81ED-4DB2-BD59-A6C34878D82A}">
                    <a16:rowId xmlns:a16="http://schemas.microsoft.com/office/drawing/2014/main" val="166279466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RESEARCH GAP</a:t>
            </a:r>
          </a:p>
        </p:txBody>
      </p:sp>
      <p:graphicFrame>
        <p:nvGraphicFramePr>
          <p:cNvPr id="4" name="Table 3">
            <a:extLst>
              <a:ext uri="{FF2B5EF4-FFF2-40B4-BE49-F238E27FC236}">
                <a16:creationId xmlns:a16="http://schemas.microsoft.com/office/drawing/2014/main" id="{F47B58C9-F407-43F0-2826-52EC2CCBC5C2}"/>
              </a:ext>
            </a:extLst>
          </p:cNvPr>
          <p:cNvGraphicFramePr>
            <a:graphicFrameLocks noGrp="1"/>
          </p:cNvGraphicFramePr>
          <p:nvPr>
            <p:extLst>
              <p:ext uri="{D42A27DB-BD31-4B8C-83A1-F6EECF244321}">
                <p14:modId xmlns:p14="http://schemas.microsoft.com/office/powerpoint/2010/main" val="3587990553"/>
              </p:ext>
            </p:extLst>
          </p:nvPr>
        </p:nvGraphicFramePr>
        <p:xfrm>
          <a:off x="1258529" y="1035698"/>
          <a:ext cx="9715841" cy="3315225"/>
        </p:xfrm>
        <a:graphic>
          <a:graphicData uri="http://schemas.openxmlformats.org/drawingml/2006/table">
            <a:tbl>
              <a:tblPr firstRow="1" bandRow="1">
                <a:tableStyleId>{5C22544A-7EE6-4342-B048-85BDC9FD1C3A}</a:tableStyleId>
              </a:tblPr>
              <a:tblGrid>
                <a:gridCol w="4837470">
                  <a:extLst>
                    <a:ext uri="{9D8B030D-6E8A-4147-A177-3AD203B41FA5}">
                      <a16:colId xmlns:a16="http://schemas.microsoft.com/office/drawing/2014/main" val="1845823123"/>
                    </a:ext>
                  </a:extLst>
                </a:gridCol>
                <a:gridCol w="4878371">
                  <a:extLst>
                    <a:ext uri="{9D8B030D-6E8A-4147-A177-3AD203B41FA5}">
                      <a16:colId xmlns:a16="http://schemas.microsoft.com/office/drawing/2014/main" val="852196137"/>
                    </a:ext>
                  </a:extLst>
                </a:gridCol>
              </a:tblGrid>
              <a:tr h="242709">
                <a:tc>
                  <a:txBody>
                    <a:bodyPr/>
                    <a:lstStyle/>
                    <a:p>
                      <a:pPr>
                        <a:buNone/>
                      </a:pPr>
                      <a:r>
                        <a:rPr lang="en-IN" b="1" dirty="0">
                          <a:latin typeface="Times New Roman" panose="02020603050405020304" pitchFamily="18" charset="0"/>
                          <a:cs typeface="Times New Roman" panose="02020603050405020304" pitchFamily="18" charset="0"/>
                        </a:rPr>
                        <a:t>Research Gap</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Proposed Solution</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648418"/>
                  </a:ext>
                </a:extLst>
              </a:tr>
              <a:tr h="670333">
                <a:tc>
                  <a:txBody>
                    <a:bodyPr/>
                    <a:lstStyle/>
                    <a:p>
                      <a:pPr>
                        <a:buNone/>
                      </a:pPr>
                      <a:r>
                        <a:rPr lang="en-IN" dirty="0">
                          <a:latin typeface="Times New Roman" panose="02020603050405020304" pitchFamily="18" charset="0"/>
                          <a:cs typeface="Times New Roman" panose="02020603050405020304" pitchFamily="18" charset="0"/>
                        </a:rPr>
                        <a:t>Limited understanding of repository context</a:t>
                      </a:r>
                    </a:p>
                  </a:txBody>
                  <a:tcPr anchor="ctr"/>
                </a:tc>
                <a:tc>
                  <a:txBody>
                    <a:bodyPr/>
                    <a:lstStyle/>
                    <a:p>
                      <a:pPr>
                        <a:buNone/>
                      </a:pPr>
                      <a:r>
                        <a:rPr lang="en-IN">
                          <a:latin typeface="Times New Roman" panose="02020603050405020304" pitchFamily="18" charset="0"/>
                          <a:cs typeface="Times New Roman" panose="02020603050405020304" pitchFamily="18" charset="0"/>
                        </a:rPr>
                        <a:t>Retrieve repository context using CodeBERT and FAISS</a:t>
                      </a:r>
                    </a:p>
                  </a:txBody>
                  <a:tcPr anchor="ctr"/>
                </a:tc>
                <a:extLst>
                  <a:ext uri="{0D108BD9-81ED-4DB2-BD59-A6C34878D82A}">
                    <a16:rowId xmlns:a16="http://schemas.microsoft.com/office/drawing/2014/main" val="1424389012"/>
                  </a:ext>
                </a:extLst>
              </a:tr>
              <a:tr h="670333">
                <a:tc>
                  <a:txBody>
                    <a:bodyPr/>
                    <a:lstStyle/>
                    <a:p>
                      <a:pPr>
                        <a:buNone/>
                      </a:pPr>
                      <a:r>
                        <a:rPr lang="en-IN" dirty="0">
                          <a:latin typeface="Times New Roman" panose="02020603050405020304" pitchFamily="18" charset="0"/>
                          <a:cs typeface="Times New Roman" panose="02020603050405020304" pitchFamily="18" charset="0"/>
                        </a:rPr>
                        <a:t>Generic and inconsistent review suggestions</a:t>
                      </a:r>
                    </a:p>
                  </a:txBody>
                  <a:tcPr anchor="ctr"/>
                </a:tc>
                <a:tc>
                  <a:txBody>
                    <a:bodyPr/>
                    <a:lstStyle/>
                    <a:p>
                      <a:pPr>
                        <a:buNone/>
                      </a:pPr>
                      <a:r>
                        <a:rPr lang="en-IN">
                          <a:latin typeface="Times New Roman" panose="02020603050405020304" pitchFamily="18" charset="0"/>
                          <a:cs typeface="Times New Roman" panose="02020603050405020304" pitchFamily="18" charset="0"/>
                        </a:rPr>
                        <a:t>Generate context-aware reviews using CodeLlama</a:t>
                      </a:r>
                    </a:p>
                  </a:txBody>
                  <a:tcPr anchor="ctr"/>
                </a:tc>
                <a:extLst>
                  <a:ext uri="{0D108BD9-81ED-4DB2-BD59-A6C34878D82A}">
                    <a16:rowId xmlns:a16="http://schemas.microsoft.com/office/drawing/2014/main" val="2075090477"/>
                  </a:ext>
                </a:extLst>
              </a:tr>
              <a:tr h="670333">
                <a:tc>
                  <a:txBody>
                    <a:bodyPr/>
                    <a:lstStyle/>
                    <a:p>
                      <a:pPr>
                        <a:buNone/>
                      </a:pPr>
                      <a:r>
                        <a:rPr lang="en-IN">
                          <a:latin typeface="Times New Roman" panose="02020603050405020304" pitchFamily="18" charset="0"/>
                          <a:cs typeface="Times New Roman" panose="02020603050405020304" pitchFamily="18" charset="0"/>
                        </a:rPr>
                        <a:t>Static analysis lacks semantic reasoning</a:t>
                      </a:r>
                    </a:p>
                  </a:txBody>
                  <a:tcPr anchor="ctr"/>
                </a:tc>
                <a:tc>
                  <a:txBody>
                    <a:bodyPr/>
                    <a:lstStyle/>
                    <a:p>
                      <a:pPr>
                        <a:buNone/>
                      </a:pPr>
                      <a:r>
                        <a:rPr lang="en-IN" dirty="0">
                          <a:latin typeface="Times New Roman" panose="02020603050405020304" pitchFamily="18" charset="0"/>
                          <a:cs typeface="Times New Roman" panose="02020603050405020304" pitchFamily="18" charset="0"/>
                        </a:rPr>
                        <a:t>Combine static analysis with LLM reasoning</a:t>
                      </a:r>
                    </a:p>
                  </a:txBody>
                  <a:tcPr anchor="ctr"/>
                </a:tc>
                <a:extLst>
                  <a:ext uri="{0D108BD9-81ED-4DB2-BD59-A6C34878D82A}">
                    <a16:rowId xmlns:a16="http://schemas.microsoft.com/office/drawing/2014/main" val="2236650954"/>
                  </a:ext>
                </a:extLst>
              </a:tr>
              <a:tr h="469233">
                <a:tc>
                  <a:txBody>
                    <a:bodyPr/>
                    <a:lstStyle/>
                    <a:p>
                      <a:pPr>
                        <a:buNone/>
                      </a:pPr>
                      <a:r>
                        <a:rPr lang="en-IN">
                          <a:latin typeface="Times New Roman" panose="02020603050405020304" pitchFamily="18" charset="0"/>
                          <a:cs typeface="Times New Roman" panose="02020603050405020304" pitchFamily="18" charset="0"/>
                        </a:rPr>
                        <a:t>No severity-based issue prioritization</a:t>
                      </a:r>
                    </a:p>
                  </a:txBody>
                  <a:tcPr anchor="ctr"/>
                </a:tc>
                <a:tc>
                  <a:txBody>
                    <a:bodyPr/>
                    <a:lstStyle/>
                    <a:p>
                      <a:pPr>
                        <a:buNone/>
                      </a:pPr>
                      <a:r>
                        <a:rPr lang="en-IN" dirty="0">
                          <a:latin typeface="Times New Roman" panose="02020603050405020304" pitchFamily="18" charset="0"/>
                          <a:cs typeface="Times New Roman" panose="02020603050405020304" pitchFamily="18" charset="0"/>
                        </a:rPr>
                        <a:t>Rank issues as Critical, High, Medium, and Low</a:t>
                      </a:r>
                    </a:p>
                  </a:txBody>
                  <a:tcPr anchor="ctr"/>
                </a:tc>
                <a:extLst>
                  <a:ext uri="{0D108BD9-81ED-4DB2-BD59-A6C34878D82A}">
                    <a16:rowId xmlns:a16="http://schemas.microsoft.com/office/drawing/2014/main" val="182434265"/>
                  </a:ext>
                </a:extLst>
              </a:tr>
              <a:tr h="469233">
                <a:tc>
                  <a:txBody>
                    <a:bodyPr/>
                    <a:lstStyle/>
                    <a:p>
                      <a:pPr>
                        <a:buNone/>
                      </a:pPr>
                      <a:r>
                        <a:rPr lang="en-IN">
                          <a:latin typeface="Times New Roman" panose="02020603050405020304" pitchFamily="18" charset="0"/>
                          <a:cs typeface="Times New Roman" panose="02020603050405020304" pitchFamily="18" charset="0"/>
                        </a:rPr>
                        <a:t>Limited explainability of review comments</a:t>
                      </a:r>
                    </a:p>
                  </a:txBody>
                  <a:tcPr anchor="ctr"/>
                </a:tc>
                <a:tc>
                  <a:txBody>
                    <a:bodyPr/>
                    <a:lstStyle/>
                    <a:p>
                      <a:pPr>
                        <a:buNone/>
                      </a:pPr>
                      <a:r>
                        <a:rPr lang="en-IN" dirty="0">
                          <a:latin typeface="Times New Roman" panose="02020603050405020304" pitchFamily="18" charset="0"/>
                          <a:cs typeface="Times New Roman" panose="02020603050405020304" pitchFamily="18" charset="0"/>
                        </a:rPr>
                        <a:t>Provide reasons, fixes, and confidence scores</a:t>
                      </a:r>
                    </a:p>
                  </a:txBody>
                  <a:tcPr anchor="ctr"/>
                </a:tc>
                <a:extLst>
                  <a:ext uri="{0D108BD9-81ED-4DB2-BD59-A6C34878D82A}">
                    <a16:rowId xmlns:a16="http://schemas.microsoft.com/office/drawing/2014/main" val="102234576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INNOVATION &amp; CREATIVITY</a:t>
            </a:r>
          </a:p>
        </p:txBody>
      </p:sp>
      <p:sp>
        <p:nvSpPr>
          <p:cNvPr id="5" name="TextBox 4">
            <a:extLst>
              <a:ext uri="{FF2B5EF4-FFF2-40B4-BE49-F238E27FC236}">
                <a16:creationId xmlns:a16="http://schemas.microsoft.com/office/drawing/2014/main" id="{95A099EF-7F58-256E-E573-5CC522AC2D74}"/>
              </a:ext>
            </a:extLst>
          </p:cNvPr>
          <p:cNvSpPr txBox="1"/>
          <p:nvPr/>
        </p:nvSpPr>
        <p:spPr>
          <a:xfrm>
            <a:off x="1094118" y="948490"/>
            <a:ext cx="10003762" cy="5730864"/>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Innovation</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Repository-aware code review using FAISS-based RAG.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Hybrid integration of </a:t>
            </a:r>
            <a:r>
              <a:rPr lang="en-IN" sz="2000" dirty="0" err="1">
                <a:latin typeface="Times New Roman" panose="02020603050405020304" pitchFamily="18" charset="0"/>
                <a:cs typeface="Times New Roman" panose="02020603050405020304" pitchFamily="18" charset="0"/>
              </a:rPr>
              <a:t>CodeLlama</a:t>
            </a:r>
            <a:r>
              <a:rPr lang="en-IN" sz="2000" dirty="0">
                <a:latin typeface="Times New Roman" panose="02020603050405020304" pitchFamily="18" charset="0"/>
                <a:cs typeface="Times New Roman" panose="02020603050405020304" pitchFamily="18" charset="0"/>
              </a:rPr>
              <a:t> and static analysis.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Intelligent retrieval of similar code before review.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Context-aware code review with explainable suggestions.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Unified review report with prioritized issue severity. </a:t>
            </a:r>
          </a:p>
          <a:p>
            <a:pPr lvl="0">
              <a:lnSpc>
                <a:spcPct val="150000"/>
              </a:lnSpc>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Creativity</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Simulates expert developer review workflow.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Combines rule-based and AI-driven analysis.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Supports Python, Java, and JavaScript.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Generates developer-friendly review explanations. </a:t>
            </a:r>
          </a:p>
          <a:p>
            <a:pPr marL="342900" lvl="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Modular architecture for future expansion.</a:t>
            </a:r>
          </a:p>
        </p:txBody>
      </p:sp>
    </p:spTree>
    <p:extLst>
      <p:ext uri="{BB962C8B-B14F-4D97-AF65-F5344CB8AC3E}">
        <p14:creationId xmlns:p14="http://schemas.microsoft.com/office/powerpoint/2010/main" val="3441026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NOVALITY</a:t>
            </a:r>
          </a:p>
        </p:txBody>
      </p:sp>
      <p:graphicFrame>
        <p:nvGraphicFramePr>
          <p:cNvPr id="4" name="Table 3">
            <a:extLst>
              <a:ext uri="{FF2B5EF4-FFF2-40B4-BE49-F238E27FC236}">
                <a16:creationId xmlns:a16="http://schemas.microsoft.com/office/drawing/2014/main" id="{49C6E94C-A825-7351-23EE-3BCA14E668DA}"/>
              </a:ext>
            </a:extLst>
          </p:cNvPr>
          <p:cNvGraphicFramePr>
            <a:graphicFrameLocks noGrp="1"/>
          </p:cNvGraphicFramePr>
          <p:nvPr>
            <p:extLst>
              <p:ext uri="{D42A27DB-BD31-4B8C-83A1-F6EECF244321}">
                <p14:modId xmlns:p14="http://schemas.microsoft.com/office/powerpoint/2010/main" val="3455003459"/>
              </p:ext>
            </p:extLst>
          </p:nvPr>
        </p:nvGraphicFramePr>
        <p:xfrm>
          <a:off x="2043405" y="806448"/>
          <a:ext cx="7305870" cy="3173715"/>
        </p:xfrm>
        <a:graphic>
          <a:graphicData uri="http://schemas.openxmlformats.org/drawingml/2006/table">
            <a:tbl>
              <a:tblPr firstRow="1" bandRow="1">
                <a:tableStyleId>{5C22544A-7EE6-4342-B048-85BDC9FD1C3A}</a:tableStyleId>
              </a:tblPr>
              <a:tblGrid>
                <a:gridCol w="3651743">
                  <a:extLst>
                    <a:ext uri="{9D8B030D-6E8A-4147-A177-3AD203B41FA5}">
                      <a16:colId xmlns:a16="http://schemas.microsoft.com/office/drawing/2014/main" val="774351571"/>
                    </a:ext>
                  </a:extLst>
                </a:gridCol>
                <a:gridCol w="3654127">
                  <a:extLst>
                    <a:ext uri="{9D8B030D-6E8A-4147-A177-3AD203B41FA5}">
                      <a16:colId xmlns:a16="http://schemas.microsoft.com/office/drawing/2014/main" val="1134837032"/>
                    </a:ext>
                  </a:extLst>
                </a:gridCol>
              </a:tblGrid>
              <a:tr h="325366">
                <a:tc>
                  <a:txBody>
                    <a:bodyPr/>
                    <a:lstStyle/>
                    <a:p>
                      <a:pPr>
                        <a:buNone/>
                      </a:pPr>
                      <a:r>
                        <a:rPr lang="en-IN" b="1">
                          <a:latin typeface="Times New Roman" panose="02020603050405020304" pitchFamily="18" charset="0"/>
                          <a:cs typeface="Times New Roman" panose="02020603050405020304" pitchFamily="18" charset="0"/>
                        </a:rPr>
                        <a:t>Existing System</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Proposed System</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96901437"/>
                  </a:ext>
                </a:extLst>
              </a:tr>
              <a:tr h="561591">
                <a:tc>
                  <a:txBody>
                    <a:bodyPr/>
                    <a:lstStyle/>
                    <a:p>
                      <a:pPr>
                        <a:buNone/>
                      </a:pPr>
                      <a:r>
                        <a:rPr lang="en-IN">
                          <a:latin typeface="Times New Roman" panose="02020603050405020304" pitchFamily="18" charset="0"/>
                          <a:cs typeface="Times New Roman" panose="02020603050405020304" pitchFamily="18" charset="0"/>
                        </a:rPr>
                        <a:t>Generic LLM review</a:t>
                      </a:r>
                    </a:p>
                  </a:txBody>
                  <a:tcPr anchor="ctr"/>
                </a:tc>
                <a:tc>
                  <a:txBody>
                    <a:bodyPr/>
                    <a:lstStyle/>
                    <a:p>
                      <a:pPr>
                        <a:buNone/>
                      </a:pPr>
                      <a:r>
                        <a:rPr lang="en-IN">
                          <a:latin typeface="Times New Roman" panose="02020603050405020304" pitchFamily="18" charset="0"/>
                          <a:cs typeface="Times New Roman" panose="02020603050405020304" pitchFamily="18" charset="0"/>
                        </a:rPr>
                        <a:t>Context-aware AI review</a:t>
                      </a:r>
                    </a:p>
                  </a:txBody>
                  <a:tcPr anchor="ctr"/>
                </a:tc>
                <a:extLst>
                  <a:ext uri="{0D108BD9-81ED-4DB2-BD59-A6C34878D82A}">
                    <a16:rowId xmlns:a16="http://schemas.microsoft.com/office/drawing/2014/main" val="449048369"/>
                  </a:ext>
                </a:extLst>
              </a:tr>
              <a:tr h="561591">
                <a:tc>
                  <a:txBody>
                    <a:bodyPr/>
                    <a:lstStyle/>
                    <a:p>
                      <a:pPr>
                        <a:buNone/>
                      </a:pPr>
                      <a:r>
                        <a:rPr lang="en-IN">
                          <a:latin typeface="Times New Roman" panose="02020603050405020304" pitchFamily="18" charset="0"/>
                          <a:cs typeface="Times New Roman" panose="02020603050405020304" pitchFamily="18" charset="0"/>
                        </a:rPr>
                        <a:t>Static analysis only</a:t>
                      </a:r>
                    </a:p>
                  </a:txBody>
                  <a:tcPr anchor="ctr"/>
                </a:tc>
                <a:tc>
                  <a:txBody>
                    <a:bodyPr/>
                    <a:lstStyle/>
                    <a:p>
                      <a:pPr>
                        <a:buNone/>
                      </a:pPr>
                      <a:r>
                        <a:rPr lang="en-IN">
                          <a:latin typeface="Times New Roman" panose="02020603050405020304" pitchFamily="18" charset="0"/>
                          <a:cs typeface="Times New Roman" panose="02020603050405020304" pitchFamily="18" charset="0"/>
                        </a:rPr>
                        <a:t>Hybrid AI + static analysis</a:t>
                      </a:r>
                    </a:p>
                  </a:txBody>
                  <a:tcPr anchor="ctr"/>
                </a:tc>
                <a:extLst>
                  <a:ext uri="{0D108BD9-81ED-4DB2-BD59-A6C34878D82A}">
                    <a16:rowId xmlns:a16="http://schemas.microsoft.com/office/drawing/2014/main" val="2642646113"/>
                  </a:ext>
                </a:extLst>
              </a:tr>
              <a:tr h="561591">
                <a:tc>
                  <a:txBody>
                    <a:bodyPr/>
                    <a:lstStyle/>
                    <a:p>
                      <a:pPr>
                        <a:buNone/>
                      </a:pPr>
                      <a:r>
                        <a:rPr lang="en-IN">
                          <a:latin typeface="Times New Roman" panose="02020603050405020304" pitchFamily="18" charset="0"/>
                          <a:cs typeface="Times New Roman" panose="02020603050405020304" pitchFamily="18" charset="0"/>
                        </a:rPr>
                        <a:t>No repository context</a:t>
                      </a:r>
                    </a:p>
                  </a:txBody>
                  <a:tcPr anchor="ctr"/>
                </a:tc>
                <a:tc>
                  <a:txBody>
                    <a:bodyPr/>
                    <a:lstStyle/>
                    <a:p>
                      <a:pPr>
                        <a:buNone/>
                      </a:pPr>
                      <a:r>
                        <a:rPr lang="en-IN">
                          <a:latin typeface="Times New Roman" panose="02020603050405020304" pitchFamily="18" charset="0"/>
                          <a:cs typeface="Times New Roman" panose="02020603050405020304" pitchFamily="18" charset="0"/>
                        </a:rPr>
                        <a:t>CodeBERT + FAISS retrieval</a:t>
                      </a:r>
                    </a:p>
                  </a:txBody>
                  <a:tcPr anchor="ctr"/>
                </a:tc>
                <a:extLst>
                  <a:ext uri="{0D108BD9-81ED-4DB2-BD59-A6C34878D82A}">
                    <a16:rowId xmlns:a16="http://schemas.microsoft.com/office/drawing/2014/main" val="956179548"/>
                  </a:ext>
                </a:extLst>
              </a:tr>
              <a:tr h="561591">
                <a:tc>
                  <a:txBody>
                    <a:bodyPr/>
                    <a:lstStyle/>
                    <a:p>
                      <a:pPr>
                        <a:buNone/>
                      </a:pPr>
                      <a:r>
                        <a:rPr lang="en-IN">
                          <a:latin typeface="Times New Roman" panose="02020603050405020304" pitchFamily="18" charset="0"/>
                          <a:cs typeface="Times New Roman" panose="02020603050405020304" pitchFamily="18" charset="0"/>
                        </a:rPr>
                        <a:t>Generic suggestions</a:t>
                      </a:r>
                    </a:p>
                  </a:txBody>
                  <a:tcPr anchor="ctr"/>
                </a:tc>
                <a:tc>
                  <a:txBody>
                    <a:bodyPr/>
                    <a:lstStyle/>
                    <a:p>
                      <a:pPr>
                        <a:buNone/>
                      </a:pPr>
                      <a:r>
                        <a:rPr lang="en-IN">
                          <a:latin typeface="Times New Roman" panose="02020603050405020304" pitchFamily="18" charset="0"/>
                          <a:cs typeface="Times New Roman" panose="02020603050405020304" pitchFamily="18" charset="0"/>
                        </a:rPr>
                        <a:t>Explainable recommendations</a:t>
                      </a:r>
                    </a:p>
                  </a:txBody>
                  <a:tcPr anchor="ctr"/>
                </a:tc>
                <a:extLst>
                  <a:ext uri="{0D108BD9-81ED-4DB2-BD59-A6C34878D82A}">
                    <a16:rowId xmlns:a16="http://schemas.microsoft.com/office/drawing/2014/main" val="42459499"/>
                  </a:ext>
                </a:extLst>
              </a:tr>
              <a:tr h="561591">
                <a:tc>
                  <a:txBody>
                    <a:bodyPr/>
                    <a:lstStyle/>
                    <a:p>
                      <a:pPr>
                        <a:buNone/>
                      </a:pPr>
                      <a:r>
                        <a:rPr lang="en-IN">
                          <a:latin typeface="Times New Roman" panose="02020603050405020304" pitchFamily="18" charset="0"/>
                          <a:cs typeface="Times New Roman" panose="02020603050405020304" pitchFamily="18" charset="0"/>
                        </a:rPr>
                        <a:t>Equal issue priority</a:t>
                      </a:r>
                    </a:p>
                  </a:txBody>
                  <a:tcPr anchor="ctr"/>
                </a:tc>
                <a:tc>
                  <a:txBody>
                    <a:bodyPr/>
                    <a:lstStyle/>
                    <a:p>
                      <a:pPr>
                        <a:buNone/>
                      </a:pPr>
                      <a:r>
                        <a:rPr lang="en-IN" dirty="0">
                          <a:latin typeface="Times New Roman" panose="02020603050405020304" pitchFamily="18" charset="0"/>
                          <a:cs typeface="Times New Roman" panose="02020603050405020304" pitchFamily="18" charset="0"/>
                        </a:rPr>
                        <a:t>Severity-ranked review</a:t>
                      </a:r>
                    </a:p>
                  </a:txBody>
                  <a:tcPr anchor="ctr"/>
                </a:tc>
                <a:extLst>
                  <a:ext uri="{0D108BD9-81ED-4DB2-BD59-A6C34878D82A}">
                    <a16:rowId xmlns:a16="http://schemas.microsoft.com/office/drawing/2014/main" val="2973278878"/>
                  </a:ext>
                </a:extLst>
              </a:tr>
            </a:tbl>
          </a:graphicData>
        </a:graphic>
      </p:graphicFrame>
      <p:sp>
        <p:nvSpPr>
          <p:cNvPr id="13" name="TextBox 12">
            <a:extLst>
              <a:ext uri="{FF2B5EF4-FFF2-40B4-BE49-F238E27FC236}">
                <a16:creationId xmlns:a16="http://schemas.microsoft.com/office/drawing/2014/main" id="{3F74B585-36CD-CBFA-44E4-555222B1604B}"/>
              </a:ext>
            </a:extLst>
          </p:cNvPr>
          <p:cNvSpPr txBox="1"/>
          <p:nvPr/>
        </p:nvSpPr>
        <p:spPr>
          <a:xfrm>
            <a:off x="2175907" y="4119380"/>
            <a:ext cx="6097554" cy="2397066"/>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Key Contribution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Hybrid AI-powered code review framework. </a:t>
            </a:r>
          </a:p>
          <a:p>
            <a:pPr marL="285750" lvl="0" indent="-285750">
              <a:lnSpc>
                <a:spcPct val="150000"/>
              </a:lnSpc>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CodeBERT</a:t>
            </a:r>
            <a:r>
              <a:rPr lang="en-IN" dirty="0">
                <a:latin typeface="Times New Roman" panose="02020603050405020304" pitchFamily="18" charset="0"/>
                <a:cs typeface="Times New Roman" panose="02020603050405020304" pitchFamily="18" charset="0"/>
              </a:rPr>
              <a:t>-based semantic code retrieval.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Repository-aware contextual review generation.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Explainable and severity-ranked suggestions.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Multi-language support for three languages.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3F743-01B3-3879-0894-974C73371F78}"/>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91A521F-E63E-5FCC-99E4-7E3CD02E6FC0}"/>
              </a:ext>
            </a:extLst>
          </p:cNvPr>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1037B9E-5097-BABA-3410-DB3EBA8C5529}"/>
              </a:ext>
            </a:extLst>
          </p:cNvPr>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FEASIBILITY ANALYSIS</a:t>
            </a:r>
          </a:p>
        </p:txBody>
      </p:sp>
      <p:sp>
        <p:nvSpPr>
          <p:cNvPr id="6" name="TextBox 5">
            <a:extLst>
              <a:ext uri="{FF2B5EF4-FFF2-40B4-BE49-F238E27FC236}">
                <a16:creationId xmlns:a16="http://schemas.microsoft.com/office/drawing/2014/main" id="{BEDD4171-24E3-AAC9-EBFF-535BA2141C3B}"/>
              </a:ext>
            </a:extLst>
          </p:cNvPr>
          <p:cNvSpPr txBox="1"/>
          <p:nvPr/>
        </p:nvSpPr>
        <p:spPr>
          <a:xfrm>
            <a:off x="3027681" y="948490"/>
            <a:ext cx="9641839" cy="5834289"/>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Technical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Open-source AI models and libraries available.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Supports Python, Java, and JavaScript.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Efficient retrieval using </a:t>
            </a:r>
            <a:r>
              <a:rPr lang="en-IN" sz="1600" dirty="0" err="1">
                <a:latin typeface="Times New Roman" panose="02020603050405020304" pitchFamily="18" charset="0"/>
                <a:cs typeface="Times New Roman" panose="02020603050405020304" pitchFamily="18" charset="0"/>
              </a:rPr>
              <a:t>CodeBERT</a:t>
            </a:r>
            <a:r>
              <a:rPr lang="en-IN" sz="1600" dirty="0">
                <a:latin typeface="Times New Roman" panose="02020603050405020304" pitchFamily="18" charset="0"/>
                <a:cs typeface="Times New Roman" panose="02020603050405020304" pitchFamily="18" charset="0"/>
              </a:rPr>
              <a:t> and FAISS.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Easy integration with static analysis tools.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Achievable within the proposed timeline. </a:t>
            </a:r>
          </a:p>
          <a:p>
            <a:r>
              <a:rPr lang="en-IN" sz="1600" b="1" dirty="0">
                <a:latin typeface="Times New Roman" panose="02020603050405020304" pitchFamily="18" charset="0"/>
                <a:cs typeface="Times New Roman" panose="02020603050405020304" pitchFamily="18" charset="0"/>
              </a:rPr>
              <a:t>Economic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Uses open-source technologies.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 expensive model training required.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Low development and deployment cost. </a:t>
            </a:r>
          </a:p>
          <a:p>
            <a:r>
              <a:rPr lang="en-IN" sz="1600" b="1" dirty="0">
                <a:latin typeface="Times New Roman" panose="02020603050405020304" pitchFamily="18" charset="0"/>
                <a:cs typeface="Times New Roman" panose="02020603050405020304" pitchFamily="18" charset="0"/>
              </a:rPr>
              <a:t>Operational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User-friendly </a:t>
            </a:r>
            <a:r>
              <a:rPr lang="en-IN" sz="1600" dirty="0" err="1">
                <a:latin typeface="Times New Roman" panose="02020603050405020304" pitchFamily="18" charset="0"/>
                <a:cs typeface="Times New Roman" panose="02020603050405020304" pitchFamily="18" charset="0"/>
              </a:rPr>
              <a:t>Streamlit</a:t>
            </a:r>
            <a:r>
              <a:rPr lang="en-IN" sz="1600" dirty="0">
                <a:latin typeface="Times New Roman" panose="02020603050405020304" pitchFamily="18" charset="0"/>
                <a:cs typeface="Times New Roman" panose="02020603050405020304" pitchFamily="18" charset="0"/>
              </a:rPr>
              <a:t> interface.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Easy integration into developer workflow.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Modular and scalable architecture. </a:t>
            </a:r>
          </a:p>
          <a:p>
            <a:r>
              <a:rPr lang="en-IN" sz="1600" b="1" dirty="0">
                <a:latin typeface="Times New Roman" panose="02020603050405020304" pitchFamily="18" charset="0"/>
                <a:cs typeface="Times New Roman" panose="02020603050405020304" pitchFamily="18" charset="0"/>
              </a:rPr>
              <a:t>Time Feasibility</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Prototype completed within </a:t>
            </a:r>
            <a:r>
              <a:rPr lang="en-IN" sz="1600" b="1" dirty="0">
                <a:latin typeface="Times New Roman" panose="02020603050405020304" pitchFamily="18" charset="0"/>
                <a:cs typeface="Times New Roman" panose="02020603050405020304" pitchFamily="18" charset="0"/>
              </a:rPr>
              <a:t>4 weeks</a:t>
            </a:r>
            <a:r>
              <a:rPr lang="en-IN" sz="1600" dirty="0">
                <a:latin typeface="Times New Roman" panose="02020603050405020304" pitchFamily="18" charset="0"/>
                <a:cs typeface="Times New Roman" panose="02020603050405020304" pitchFamily="18" charset="0"/>
              </a:rPr>
              <a:t>.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Based on existing AI and RAG technologies.</a:t>
            </a:r>
          </a:p>
        </p:txBody>
      </p:sp>
    </p:spTree>
    <p:extLst>
      <p:ext uri="{BB962C8B-B14F-4D97-AF65-F5344CB8AC3E}">
        <p14:creationId xmlns:p14="http://schemas.microsoft.com/office/powerpoint/2010/main" val="2231414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306BC-0D02-72B5-7962-7CD7174D9FEA}"/>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571F66FC-34C6-F1E3-D83C-E29590F59346}"/>
              </a:ext>
            </a:extLst>
          </p:cNvPr>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75E27E7-CF87-770C-3DCB-07F30CC6929E}"/>
              </a:ext>
            </a:extLst>
          </p:cNvPr>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PROJECT PLAN</a:t>
            </a:r>
          </a:p>
        </p:txBody>
      </p:sp>
      <p:sp>
        <p:nvSpPr>
          <p:cNvPr id="7" name="TextBox 6">
            <a:extLst>
              <a:ext uri="{FF2B5EF4-FFF2-40B4-BE49-F238E27FC236}">
                <a16:creationId xmlns:a16="http://schemas.microsoft.com/office/drawing/2014/main" id="{D57B9045-FB2C-579B-54C3-4B9C54662580}"/>
              </a:ext>
            </a:extLst>
          </p:cNvPr>
          <p:cNvSpPr txBox="1"/>
          <p:nvPr/>
        </p:nvSpPr>
        <p:spPr>
          <a:xfrm>
            <a:off x="5956560" y="2884231"/>
            <a:ext cx="6097554" cy="323486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Expected Outcomes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Automate code review for Python, Java, and JavaScript.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 code quality through context-aware analysis.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Generate accurate and explainable review suggestions.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Prioritize issues based on severity levels.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Reduce manual code review effort and time.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Enhance developer productivity and code maintainability.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a scalable framework for future language support.</a:t>
            </a:r>
          </a:p>
        </p:txBody>
      </p:sp>
      <p:graphicFrame>
        <p:nvGraphicFramePr>
          <p:cNvPr id="6" name="Table 5">
            <a:extLst>
              <a:ext uri="{FF2B5EF4-FFF2-40B4-BE49-F238E27FC236}">
                <a16:creationId xmlns:a16="http://schemas.microsoft.com/office/drawing/2014/main" id="{786AE20F-6F4D-A399-A683-BB5A97C782B6}"/>
              </a:ext>
            </a:extLst>
          </p:cNvPr>
          <p:cNvGraphicFramePr>
            <a:graphicFrameLocks noGrp="1"/>
          </p:cNvGraphicFramePr>
          <p:nvPr>
            <p:extLst>
              <p:ext uri="{D42A27DB-BD31-4B8C-83A1-F6EECF244321}">
                <p14:modId xmlns:p14="http://schemas.microsoft.com/office/powerpoint/2010/main" val="2112100172"/>
              </p:ext>
            </p:extLst>
          </p:nvPr>
        </p:nvGraphicFramePr>
        <p:xfrm>
          <a:off x="137886" y="1176049"/>
          <a:ext cx="5190707" cy="3606800"/>
        </p:xfrm>
        <a:graphic>
          <a:graphicData uri="http://schemas.openxmlformats.org/drawingml/2006/table">
            <a:tbl>
              <a:tblPr firstRow="1" bandRow="1">
                <a:tableStyleId>{5C22544A-7EE6-4342-B048-85BDC9FD1C3A}</a:tableStyleId>
              </a:tblPr>
              <a:tblGrid>
                <a:gridCol w="904774">
                  <a:extLst>
                    <a:ext uri="{9D8B030D-6E8A-4147-A177-3AD203B41FA5}">
                      <a16:colId xmlns:a16="http://schemas.microsoft.com/office/drawing/2014/main" val="3831176587"/>
                    </a:ext>
                  </a:extLst>
                </a:gridCol>
                <a:gridCol w="4285933">
                  <a:extLst>
                    <a:ext uri="{9D8B030D-6E8A-4147-A177-3AD203B41FA5}">
                      <a16:colId xmlns:a16="http://schemas.microsoft.com/office/drawing/2014/main" val="1113441636"/>
                    </a:ext>
                  </a:extLst>
                </a:gridCol>
              </a:tblGrid>
              <a:tr h="370840">
                <a:tc>
                  <a:txBody>
                    <a:bodyPr/>
                    <a:lstStyle/>
                    <a:p>
                      <a:pPr>
                        <a:buNone/>
                      </a:pPr>
                      <a:r>
                        <a:rPr lang="en-IN" b="1">
                          <a:latin typeface="Times New Roman" panose="02020603050405020304" pitchFamily="18" charset="0"/>
                          <a:cs typeface="Times New Roman" panose="02020603050405020304" pitchFamily="18" charset="0"/>
                        </a:rPr>
                        <a:t>Week</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Activity</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64491209"/>
                  </a:ext>
                </a:extLst>
              </a:tr>
              <a:tr h="370840">
                <a:tc>
                  <a:txBody>
                    <a:bodyPr/>
                    <a:lstStyle/>
                    <a:p>
                      <a:pPr>
                        <a:buNone/>
                      </a:pPr>
                      <a:r>
                        <a:rPr lang="en-IN" b="1">
                          <a:latin typeface="Times New Roman" panose="02020603050405020304" pitchFamily="18" charset="0"/>
                          <a:cs typeface="Times New Roman" panose="02020603050405020304" pitchFamily="18" charset="0"/>
                        </a:rPr>
                        <a:t>Week 1</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Literature Survey &amp; Dataset Collection</a:t>
                      </a:r>
                    </a:p>
                  </a:txBody>
                  <a:tcPr anchor="ctr"/>
                </a:tc>
                <a:extLst>
                  <a:ext uri="{0D108BD9-81ED-4DB2-BD59-A6C34878D82A}">
                    <a16:rowId xmlns:a16="http://schemas.microsoft.com/office/drawing/2014/main" val="3844735672"/>
                  </a:ext>
                </a:extLst>
              </a:tr>
              <a:tr h="370840">
                <a:tc>
                  <a:txBody>
                    <a:bodyPr/>
                    <a:lstStyle/>
                    <a:p>
                      <a:pPr>
                        <a:buNone/>
                      </a:pPr>
                      <a:r>
                        <a:rPr lang="en-IN" b="1">
                          <a:latin typeface="Times New Roman" panose="02020603050405020304" pitchFamily="18" charset="0"/>
                          <a:cs typeface="Times New Roman" panose="02020603050405020304" pitchFamily="18" charset="0"/>
                        </a:rPr>
                        <a:t>Week 1</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Code Chunking &amp; FAISS Setup</a:t>
                      </a:r>
                    </a:p>
                  </a:txBody>
                  <a:tcPr anchor="ctr"/>
                </a:tc>
                <a:extLst>
                  <a:ext uri="{0D108BD9-81ED-4DB2-BD59-A6C34878D82A}">
                    <a16:rowId xmlns:a16="http://schemas.microsoft.com/office/drawing/2014/main" val="379309350"/>
                  </a:ext>
                </a:extLst>
              </a:tr>
              <a:tr h="370840">
                <a:tc>
                  <a:txBody>
                    <a:bodyPr/>
                    <a:lstStyle/>
                    <a:p>
                      <a:pPr>
                        <a:buNone/>
                      </a:pPr>
                      <a:r>
                        <a:rPr lang="en-IN" b="1">
                          <a:latin typeface="Times New Roman" panose="02020603050405020304" pitchFamily="18" charset="0"/>
                          <a:cs typeface="Times New Roman" panose="02020603050405020304" pitchFamily="18" charset="0"/>
                        </a:rPr>
                        <a:t>Week 2</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Static Analyzer Integration</a:t>
                      </a:r>
                    </a:p>
                  </a:txBody>
                  <a:tcPr anchor="ctr"/>
                </a:tc>
                <a:extLst>
                  <a:ext uri="{0D108BD9-81ED-4DB2-BD59-A6C34878D82A}">
                    <a16:rowId xmlns:a16="http://schemas.microsoft.com/office/drawing/2014/main" val="3985336015"/>
                  </a:ext>
                </a:extLst>
              </a:tr>
              <a:tr h="370840">
                <a:tc>
                  <a:txBody>
                    <a:bodyPr/>
                    <a:lstStyle/>
                    <a:p>
                      <a:pPr>
                        <a:buNone/>
                      </a:pPr>
                      <a:r>
                        <a:rPr lang="en-IN" b="1">
                          <a:latin typeface="Times New Roman" panose="02020603050405020304" pitchFamily="18" charset="0"/>
                          <a:cs typeface="Times New Roman" panose="02020603050405020304" pitchFamily="18" charset="0"/>
                        </a:rPr>
                        <a:t>Week 2</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CodeBERT &amp; CodeLlama Integration</a:t>
                      </a:r>
                    </a:p>
                  </a:txBody>
                  <a:tcPr anchor="ctr"/>
                </a:tc>
                <a:extLst>
                  <a:ext uri="{0D108BD9-81ED-4DB2-BD59-A6C34878D82A}">
                    <a16:rowId xmlns:a16="http://schemas.microsoft.com/office/drawing/2014/main" val="2283255444"/>
                  </a:ext>
                </a:extLst>
              </a:tr>
              <a:tr h="370840">
                <a:tc>
                  <a:txBody>
                    <a:bodyPr/>
                    <a:lstStyle/>
                    <a:p>
                      <a:pPr>
                        <a:buNone/>
                      </a:pPr>
                      <a:r>
                        <a:rPr lang="en-IN" b="1">
                          <a:latin typeface="Times New Roman" panose="02020603050405020304" pitchFamily="18" charset="0"/>
                          <a:cs typeface="Times New Roman" panose="02020603050405020304" pitchFamily="18" charset="0"/>
                        </a:rPr>
                        <a:t>Week 3</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RAG Implementation &amp; Prompt Engineering</a:t>
                      </a:r>
                    </a:p>
                  </a:txBody>
                  <a:tcPr anchor="ctr"/>
                </a:tc>
                <a:extLst>
                  <a:ext uri="{0D108BD9-81ED-4DB2-BD59-A6C34878D82A}">
                    <a16:rowId xmlns:a16="http://schemas.microsoft.com/office/drawing/2014/main" val="2202451588"/>
                  </a:ext>
                </a:extLst>
              </a:tr>
              <a:tr h="370840">
                <a:tc>
                  <a:txBody>
                    <a:bodyPr/>
                    <a:lstStyle/>
                    <a:p>
                      <a:pPr>
                        <a:buNone/>
                      </a:pPr>
                      <a:r>
                        <a:rPr lang="en-IN" b="1">
                          <a:latin typeface="Times New Roman" panose="02020603050405020304" pitchFamily="18" charset="0"/>
                          <a:cs typeface="Times New Roman" panose="02020603050405020304" pitchFamily="18" charset="0"/>
                        </a:rPr>
                        <a:t>Week 3</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Explainable Review Generation</a:t>
                      </a:r>
                    </a:p>
                  </a:txBody>
                  <a:tcPr anchor="ctr"/>
                </a:tc>
                <a:extLst>
                  <a:ext uri="{0D108BD9-81ED-4DB2-BD59-A6C34878D82A}">
                    <a16:rowId xmlns:a16="http://schemas.microsoft.com/office/drawing/2014/main" val="3992529153"/>
                  </a:ext>
                </a:extLst>
              </a:tr>
              <a:tr h="370840">
                <a:tc>
                  <a:txBody>
                    <a:bodyPr/>
                    <a:lstStyle/>
                    <a:p>
                      <a:pPr>
                        <a:buNone/>
                      </a:pPr>
                      <a:r>
                        <a:rPr lang="en-IN" b="1">
                          <a:latin typeface="Times New Roman" panose="02020603050405020304" pitchFamily="18" charset="0"/>
                          <a:cs typeface="Times New Roman" panose="02020603050405020304" pitchFamily="18" charset="0"/>
                        </a:rPr>
                        <a:t>Week 4</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Testing &amp; Performance Evaluation</a:t>
                      </a:r>
                    </a:p>
                  </a:txBody>
                  <a:tcPr anchor="ctr"/>
                </a:tc>
                <a:extLst>
                  <a:ext uri="{0D108BD9-81ED-4DB2-BD59-A6C34878D82A}">
                    <a16:rowId xmlns:a16="http://schemas.microsoft.com/office/drawing/2014/main" val="2697674758"/>
                  </a:ext>
                </a:extLst>
              </a:tr>
              <a:tr h="370840">
                <a:tc>
                  <a:txBody>
                    <a:bodyPr/>
                    <a:lstStyle/>
                    <a:p>
                      <a:pPr>
                        <a:buNone/>
                      </a:pPr>
                      <a:r>
                        <a:rPr lang="en-IN" b="1">
                          <a:latin typeface="Times New Roman" panose="02020603050405020304" pitchFamily="18" charset="0"/>
                          <a:cs typeface="Times New Roman" panose="02020603050405020304" pitchFamily="18" charset="0"/>
                        </a:rPr>
                        <a:t>Week 4</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Documentation &amp; Final Presentation</a:t>
                      </a:r>
                    </a:p>
                  </a:txBody>
                  <a:tcPr anchor="ctr"/>
                </a:tc>
                <a:extLst>
                  <a:ext uri="{0D108BD9-81ED-4DB2-BD59-A6C34878D82A}">
                    <a16:rowId xmlns:a16="http://schemas.microsoft.com/office/drawing/2014/main" val="1038047845"/>
                  </a:ext>
                </a:extLst>
              </a:tr>
            </a:tbl>
          </a:graphicData>
        </a:graphic>
      </p:graphicFrame>
    </p:spTree>
    <p:extLst>
      <p:ext uri="{BB962C8B-B14F-4D97-AF65-F5344CB8AC3E}">
        <p14:creationId xmlns:p14="http://schemas.microsoft.com/office/powerpoint/2010/main" val="153342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74460" y="302403"/>
            <a:ext cx="6710398" cy="492443"/>
          </a:xfrm>
          <a:prstGeom prst="rect">
            <a:avLst/>
          </a:prstGeom>
          <a:noFill/>
        </p:spPr>
        <p:txBody>
          <a:bodyPr wrap="square" rtlCol="0">
            <a:spAutoFit/>
          </a:bodyPr>
          <a:lstStyle/>
          <a:p>
            <a:pPr algn="ctr"/>
            <a:r>
              <a:rPr lang="en-US" sz="2600" b="1" dirty="0">
                <a:solidFill>
                  <a:schemeClr val="bg1"/>
                </a:solidFill>
              </a:rPr>
              <a:t>PROPOSED ARCHITECTURE/METHODOLOGY</a:t>
            </a:r>
          </a:p>
        </p:txBody>
      </p:sp>
      <p:sp>
        <p:nvSpPr>
          <p:cNvPr id="7" name="TextBox 6">
            <a:extLst>
              <a:ext uri="{FF2B5EF4-FFF2-40B4-BE49-F238E27FC236}">
                <a16:creationId xmlns:a16="http://schemas.microsoft.com/office/drawing/2014/main" id="{7DF84E94-80EF-7091-2D6A-501EE8AE35A7}"/>
              </a:ext>
            </a:extLst>
          </p:cNvPr>
          <p:cNvSpPr txBox="1"/>
          <p:nvPr/>
        </p:nvSpPr>
        <p:spPr>
          <a:xfrm>
            <a:off x="5997201" y="1399470"/>
            <a:ext cx="6097554" cy="4059060"/>
          </a:xfrm>
          <a:prstGeom prst="rect">
            <a:avLst/>
          </a:prstGeom>
          <a:noFill/>
        </p:spPr>
        <p:txBody>
          <a:bodyPr wrap="square">
            <a:spAutoFit/>
          </a:bodyPr>
          <a:lstStyle/>
          <a:p>
            <a:r>
              <a:rPr lang="en-IN" b="1" dirty="0"/>
              <a:t>Workflow</a:t>
            </a:r>
          </a:p>
          <a:p>
            <a:pPr marL="342900" lvl="0" indent="-342900">
              <a:lnSpc>
                <a:spcPct val="150000"/>
              </a:lnSpc>
              <a:buFont typeface="+mj-lt"/>
              <a:buAutoNum type="arabicPeriod"/>
            </a:pPr>
            <a:r>
              <a:rPr lang="en-IN" dirty="0"/>
              <a:t>Upload source code. </a:t>
            </a:r>
          </a:p>
          <a:p>
            <a:pPr marL="342900" lvl="0" indent="-342900">
              <a:lnSpc>
                <a:spcPct val="150000"/>
              </a:lnSpc>
              <a:buFont typeface="+mj-lt"/>
              <a:buAutoNum type="arabicPeriod"/>
            </a:pPr>
            <a:r>
              <a:rPr lang="en-IN" dirty="0"/>
              <a:t>Detect programming language. </a:t>
            </a:r>
          </a:p>
          <a:p>
            <a:pPr marL="342900" lvl="0" indent="-342900">
              <a:lnSpc>
                <a:spcPct val="150000"/>
              </a:lnSpc>
              <a:buFont typeface="+mj-lt"/>
              <a:buAutoNum type="arabicPeriod"/>
            </a:pPr>
            <a:r>
              <a:rPr lang="en-IN" dirty="0"/>
              <a:t>Perform static code analysis. </a:t>
            </a:r>
          </a:p>
          <a:p>
            <a:pPr marL="342900" lvl="0" indent="-342900">
              <a:lnSpc>
                <a:spcPct val="150000"/>
              </a:lnSpc>
              <a:buFont typeface="+mj-lt"/>
              <a:buAutoNum type="arabicPeriod"/>
            </a:pPr>
            <a:r>
              <a:rPr lang="en-IN" dirty="0"/>
              <a:t>Generate </a:t>
            </a:r>
            <a:r>
              <a:rPr lang="en-IN" dirty="0" err="1"/>
              <a:t>CodeBERT</a:t>
            </a:r>
            <a:r>
              <a:rPr lang="en-IN" dirty="0"/>
              <a:t> embeddings. </a:t>
            </a:r>
          </a:p>
          <a:p>
            <a:pPr marL="342900" lvl="0" indent="-342900">
              <a:lnSpc>
                <a:spcPct val="150000"/>
              </a:lnSpc>
              <a:buFont typeface="+mj-lt"/>
              <a:buAutoNum type="arabicPeriod"/>
            </a:pPr>
            <a:r>
              <a:rPr lang="en-IN" dirty="0"/>
              <a:t>Retrieve similar code using FAISS. </a:t>
            </a:r>
          </a:p>
          <a:p>
            <a:pPr marL="342900" lvl="0" indent="-342900">
              <a:lnSpc>
                <a:spcPct val="150000"/>
              </a:lnSpc>
              <a:buFont typeface="+mj-lt"/>
              <a:buAutoNum type="arabicPeriod"/>
            </a:pPr>
            <a:r>
              <a:rPr lang="en-IN" dirty="0"/>
              <a:t>Build contextual prompt. </a:t>
            </a:r>
          </a:p>
          <a:p>
            <a:pPr marL="342900" lvl="0" indent="-342900">
              <a:lnSpc>
                <a:spcPct val="150000"/>
              </a:lnSpc>
              <a:buFont typeface="+mj-lt"/>
              <a:buAutoNum type="arabicPeriod"/>
            </a:pPr>
            <a:r>
              <a:rPr lang="en-IN" dirty="0"/>
              <a:t>Generate review using </a:t>
            </a:r>
            <a:r>
              <a:rPr lang="en-IN" dirty="0" err="1"/>
              <a:t>CodeLlama</a:t>
            </a:r>
            <a:r>
              <a:rPr lang="en-IN" dirty="0"/>
              <a:t>. </a:t>
            </a:r>
          </a:p>
          <a:p>
            <a:pPr marL="342900" lvl="0" indent="-342900">
              <a:lnSpc>
                <a:spcPct val="150000"/>
              </a:lnSpc>
              <a:buFont typeface="+mj-lt"/>
              <a:buAutoNum type="arabicPeriod"/>
            </a:pPr>
            <a:r>
              <a:rPr lang="en-IN" dirty="0"/>
              <a:t>Produce explainable review report.</a:t>
            </a:r>
          </a:p>
          <a:p>
            <a:pPr marL="342900" lvl="0" indent="-342900">
              <a:lnSpc>
                <a:spcPct val="150000"/>
              </a:lnSpc>
              <a:buFont typeface="+mj-lt"/>
              <a:buAutoNum type="arabicPeriod"/>
            </a:pP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3D17EAD-E776-82F1-E088-2838F9DA05F2}"/>
              </a:ext>
            </a:extLst>
          </p:cNvPr>
          <p:cNvPicPr>
            <a:picLocks noChangeAspect="1"/>
          </p:cNvPicPr>
          <p:nvPr/>
        </p:nvPicPr>
        <p:blipFill>
          <a:blip r:embed="rId2"/>
          <a:stretch>
            <a:fillRect/>
          </a:stretch>
        </p:blipFill>
        <p:spPr>
          <a:xfrm>
            <a:off x="275303" y="993058"/>
            <a:ext cx="5292874" cy="5481484"/>
          </a:xfrm>
          <a:prstGeom prst="rect">
            <a:avLst/>
          </a:prstGeom>
        </p:spPr>
      </p:pic>
    </p:spTree>
    <p:extLst>
      <p:ext uri="{BB962C8B-B14F-4D97-AF65-F5344CB8AC3E}">
        <p14:creationId xmlns:p14="http://schemas.microsoft.com/office/powerpoint/2010/main" val="2292750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DATA SET</a:t>
            </a:r>
          </a:p>
        </p:txBody>
      </p:sp>
      <p:graphicFrame>
        <p:nvGraphicFramePr>
          <p:cNvPr id="8" name="Table 7">
            <a:extLst>
              <a:ext uri="{FF2B5EF4-FFF2-40B4-BE49-F238E27FC236}">
                <a16:creationId xmlns:a16="http://schemas.microsoft.com/office/drawing/2014/main" id="{64DBFEAB-01F5-32F8-1A2B-F196BF6742FB}"/>
              </a:ext>
            </a:extLst>
          </p:cNvPr>
          <p:cNvGraphicFramePr>
            <a:graphicFrameLocks noGrp="1"/>
          </p:cNvGraphicFramePr>
          <p:nvPr>
            <p:extLst>
              <p:ext uri="{D42A27DB-BD31-4B8C-83A1-F6EECF244321}">
                <p14:modId xmlns:p14="http://schemas.microsoft.com/office/powerpoint/2010/main" val="844007738"/>
              </p:ext>
            </p:extLst>
          </p:nvPr>
        </p:nvGraphicFramePr>
        <p:xfrm>
          <a:off x="2031999" y="806448"/>
          <a:ext cx="8127999" cy="20218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597351812"/>
                    </a:ext>
                  </a:extLst>
                </a:gridCol>
                <a:gridCol w="2709333">
                  <a:extLst>
                    <a:ext uri="{9D8B030D-6E8A-4147-A177-3AD203B41FA5}">
                      <a16:colId xmlns:a16="http://schemas.microsoft.com/office/drawing/2014/main" val="2622464983"/>
                    </a:ext>
                  </a:extLst>
                </a:gridCol>
                <a:gridCol w="2709333">
                  <a:extLst>
                    <a:ext uri="{9D8B030D-6E8A-4147-A177-3AD203B41FA5}">
                      <a16:colId xmlns:a16="http://schemas.microsoft.com/office/drawing/2014/main" val="2373578461"/>
                    </a:ext>
                  </a:extLst>
                </a:gridCol>
              </a:tblGrid>
              <a:tr h="370840">
                <a:tc>
                  <a:txBody>
                    <a:bodyPr/>
                    <a:lstStyle/>
                    <a:p>
                      <a:pPr>
                        <a:buNone/>
                      </a:pPr>
                      <a:r>
                        <a:rPr lang="en-IN" b="1">
                          <a:latin typeface="Times New Roman" panose="02020603050405020304" pitchFamily="18" charset="0"/>
                          <a:cs typeface="Times New Roman" panose="02020603050405020304" pitchFamily="18" charset="0"/>
                        </a:rPr>
                        <a:t>Dataset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Purpose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b="1">
                          <a:latin typeface="Times New Roman" panose="02020603050405020304" pitchFamily="18" charset="0"/>
                          <a:cs typeface="Times New Roman" panose="02020603050405020304" pitchFamily="18" charset="0"/>
                        </a:rPr>
                        <a:t>Used In</a:t>
                      </a: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77451434"/>
                  </a:ext>
                </a:extLst>
              </a:tr>
              <a:tr h="370840">
                <a:tc>
                  <a:txBody>
                    <a:bodyPr/>
                    <a:lstStyle/>
                    <a:p>
                      <a:pPr>
                        <a:buNone/>
                      </a:pPr>
                      <a:r>
                        <a:rPr lang="en-IN" b="1">
                          <a:latin typeface="Times New Roman" panose="02020603050405020304" pitchFamily="18" charset="0"/>
                          <a:cs typeface="Times New Roman" panose="02020603050405020304" pitchFamily="18" charset="0"/>
                        </a:rPr>
                        <a:t>CodeSearchNet</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Similar code repository</a:t>
                      </a:r>
                    </a:p>
                  </a:txBody>
                  <a:tcPr anchor="ctr"/>
                </a:tc>
                <a:tc>
                  <a:txBody>
                    <a:bodyPr/>
                    <a:lstStyle/>
                    <a:p>
                      <a:pPr>
                        <a:buNone/>
                      </a:pPr>
                      <a:r>
                        <a:rPr lang="en-IN">
                          <a:latin typeface="Times New Roman" panose="02020603050405020304" pitchFamily="18" charset="0"/>
                          <a:cs typeface="Times New Roman" panose="02020603050405020304" pitchFamily="18" charset="0"/>
                        </a:rPr>
                        <a:t>CodeBERT embeddings &amp; FAISS retrieval</a:t>
                      </a:r>
                    </a:p>
                  </a:txBody>
                  <a:tcPr anchor="ctr"/>
                </a:tc>
                <a:extLst>
                  <a:ext uri="{0D108BD9-81ED-4DB2-BD59-A6C34878D82A}">
                    <a16:rowId xmlns:a16="http://schemas.microsoft.com/office/drawing/2014/main" val="3913975007"/>
                  </a:ext>
                </a:extLst>
              </a:tr>
              <a:tr h="370840">
                <a:tc>
                  <a:txBody>
                    <a:bodyPr/>
                    <a:lstStyle/>
                    <a:p>
                      <a:pPr>
                        <a:buNone/>
                      </a:pPr>
                      <a:r>
                        <a:rPr lang="en-IN" b="1">
                          <a:latin typeface="Times New Roman" panose="02020603050405020304" pitchFamily="18" charset="0"/>
                          <a:cs typeface="Times New Roman" panose="02020603050405020304" pitchFamily="18" charset="0"/>
                        </a:rPr>
                        <a:t>CodeXGLUE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Code review benchmark</a:t>
                      </a:r>
                    </a:p>
                  </a:txBody>
                  <a:tcPr anchor="ctr"/>
                </a:tc>
                <a:tc>
                  <a:txBody>
                    <a:bodyPr/>
                    <a:lstStyle/>
                    <a:p>
                      <a:pPr>
                        <a:buNone/>
                      </a:pPr>
                      <a:r>
                        <a:rPr lang="en-IN">
                          <a:latin typeface="Times New Roman" panose="02020603050405020304" pitchFamily="18" charset="0"/>
                          <a:cs typeface="Times New Roman" panose="02020603050405020304" pitchFamily="18" charset="0"/>
                        </a:rPr>
                        <a:t>Performance evaluation</a:t>
                      </a:r>
                    </a:p>
                  </a:txBody>
                  <a:tcPr anchor="ctr"/>
                </a:tc>
                <a:extLst>
                  <a:ext uri="{0D108BD9-81ED-4DB2-BD59-A6C34878D82A}">
                    <a16:rowId xmlns:a16="http://schemas.microsoft.com/office/drawing/2014/main" val="1882330418"/>
                  </a:ext>
                </a:extLst>
              </a:tr>
              <a:tr h="370840">
                <a:tc>
                  <a:txBody>
                    <a:bodyPr/>
                    <a:lstStyle/>
                    <a:p>
                      <a:pPr>
                        <a:buNone/>
                      </a:pPr>
                      <a:r>
                        <a:rPr lang="en-IN" b="1">
                          <a:latin typeface="Times New Roman" panose="02020603050405020304" pitchFamily="18" charset="0"/>
                          <a:cs typeface="Times New Roman" panose="02020603050405020304" pitchFamily="18" charset="0"/>
                        </a:rPr>
                        <a:t>GitHub Public Repositories</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Repository context</a:t>
                      </a:r>
                    </a:p>
                  </a:txBody>
                  <a:tcPr anchor="ctr"/>
                </a:tc>
                <a:tc>
                  <a:txBody>
                    <a:bodyPr/>
                    <a:lstStyle/>
                    <a:p>
                      <a:pPr>
                        <a:buNone/>
                      </a:pPr>
                      <a:r>
                        <a:rPr lang="en-IN" dirty="0">
                          <a:latin typeface="Times New Roman" panose="02020603050405020304" pitchFamily="18" charset="0"/>
                          <a:cs typeface="Times New Roman" panose="02020603050405020304" pitchFamily="18" charset="0"/>
                        </a:rPr>
                        <a:t>RAG retrieval &amp; testing</a:t>
                      </a:r>
                    </a:p>
                  </a:txBody>
                  <a:tcPr anchor="ctr"/>
                </a:tc>
                <a:extLst>
                  <a:ext uri="{0D108BD9-81ED-4DB2-BD59-A6C34878D82A}">
                    <a16:rowId xmlns:a16="http://schemas.microsoft.com/office/drawing/2014/main" val="4223862476"/>
                  </a:ext>
                </a:extLst>
              </a:tr>
            </a:tbl>
          </a:graphicData>
        </a:graphic>
      </p:graphicFrame>
      <p:sp>
        <p:nvSpPr>
          <p:cNvPr id="5" name="TextBox 4">
            <a:extLst>
              <a:ext uri="{FF2B5EF4-FFF2-40B4-BE49-F238E27FC236}">
                <a16:creationId xmlns:a16="http://schemas.microsoft.com/office/drawing/2014/main" id="{B56FBE86-995B-CEEE-3857-B77F6E8731D7}"/>
              </a:ext>
            </a:extLst>
          </p:cNvPr>
          <p:cNvSpPr txBox="1"/>
          <p:nvPr/>
        </p:nvSpPr>
        <p:spPr>
          <a:xfrm>
            <a:off x="688109" y="3181116"/>
            <a:ext cx="6096000" cy="2951064"/>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Technology Stack:</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Programming Language:</a:t>
            </a:r>
            <a:r>
              <a:rPr lang="en-IN" dirty="0">
                <a:latin typeface="Times New Roman" panose="02020603050405020304" pitchFamily="18" charset="0"/>
                <a:cs typeface="Times New Roman" panose="02020603050405020304" pitchFamily="18" charset="0"/>
              </a:rPr>
              <a:t> Python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User Interface: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Code Large Language Model: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CodeLlama</a:t>
            </a:r>
            <a:endParaRPr lang="en-IN"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Embedding Model: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CodeBERT</a:t>
            </a:r>
            <a:r>
              <a:rPr lang="en-IN"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Vector Database:</a:t>
            </a:r>
            <a:r>
              <a:rPr lang="en-IN" dirty="0">
                <a:latin typeface="Times New Roman" panose="02020603050405020304" pitchFamily="18" charset="0"/>
                <a:cs typeface="Times New Roman" panose="02020603050405020304" pitchFamily="18" charset="0"/>
              </a:rPr>
              <a:t> FAISS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Static Analysis Tools: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Pylint</a:t>
            </a:r>
            <a:r>
              <a:rPr lang="en-IN" dirty="0">
                <a:latin typeface="Times New Roman" panose="02020603050405020304" pitchFamily="18" charset="0"/>
                <a:cs typeface="Times New Roman" panose="02020603050405020304" pitchFamily="18" charset="0"/>
              </a:rPr>
              <a:t>, PMD, </a:t>
            </a:r>
            <a:r>
              <a:rPr lang="en-IN" dirty="0" err="1">
                <a:latin typeface="Times New Roman" panose="02020603050405020304" pitchFamily="18" charset="0"/>
                <a:cs typeface="Times New Roman" panose="02020603050405020304" pitchFamily="18" charset="0"/>
              </a:rPr>
              <a:t>ESLint</a:t>
            </a:r>
            <a:r>
              <a:rPr lang="en-IN" dirty="0">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FCCC368E-2408-0CDF-E347-374CC6CA8140}"/>
              </a:ext>
            </a:extLst>
          </p:cNvPr>
          <p:cNvSpPr txBox="1"/>
          <p:nvPr/>
        </p:nvSpPr>
        <p:spPr>
          <a:xfrm>
            <a:off x="6289040" y="3777858"/>
            <a:ext cx="5679440" cy="2446824"/>
          </a:xfrm>
          <a:prstGeom prst="rect">
            <a:avLst/>
          </a:prstGeom>
          <a:noFill/>
        </p:spPr>
        <p:txBody>
          <a:bodyPr wrap="square" rtlCol="0">
            <a:spAutoFit/>
          </a:bodyPr>
          <a:lstStyle/>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Retrieval Technique:</a:t>
            </a:r>
            <a:r>
              <a:rPr lang="en-IN" dirty="0">
                <a:latin typeface="Times New Roman" panose="02020603050405020304" pitchFamily="18" charset="0"/>
                <a:cs typeface="Times New Roman" panose="02020603050405020304" pitchFamily="18" charset="0"/>
              </a:rPr>
              <a:t> Retrieval-Augmented Generation (RAG)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Datasets: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CodeSearchNet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CodeXGLUE</a:t>
            </a:r>
            <a:r>
              <a:rPr lang="en-IN" dirty="0">
                <a:latin typeface="Times New Roman" panose="02020603050405020304" pitchFamily="18" charset="0"/>
                <a:cs typeface="Times New Roman" panose="02020603050405020304" pitchFamily="18" charset="0"/>
              </a:rPr>
              <a:t>, GitHub Public Repositories </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Evaluation Metrics:</a:t>
            </a:r>
            <a:r>
              <a:rPr lang="en-IN" dirty="0">
                <a:latin typeface="Times New Roman" panose="02020603050405020304" pitchFamily="18" charset="0"/>
                <a:cs typeface="Times New Roman" panose="02020603050405020304" pitchFamily="18" charset="0"/>
              </a:rPr>
              <a:t> Precision, Recall, </a:t>
            </a:r>
            <a:r>
              <a:rPr lang="en-IN" dirty="0" err="1">
                <a:latin typeface="Times New Roman" panose="02020603050405020304" pitchFamily="18" charset="0"/>
                <a:cs typeface="Times New Roman" panose="02020603050405020304" pitchFamily="18" charset="0"/>
              </a:rPr>
              <a:t>CodeBLEU</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6092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5" name="TextBox 4">
            <a:extLst>
              <a:ext uri="{FF2B5EF4-FFF2-40B4-BE49-F238E27FC236}">
                <a16:creationId xmlns:a16="http://schemas.microsoft.com/office/drawing/2014/main" id="{6714BFB9-EBE1-BAFF-E5E0-B3347511B15E}"/>
              </a:ext>
            </a:extLst>
          </p:cNvPr>
          <p:cNvSpPr txBox="1"/>
          <p:nvPr/>
        </p:nvSpPr>
        <p:spPr>
          <a:xfrm>
            <a:off x="3123423" y="766617"/>
            <a:ext cx="6097554"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How Each Dataset Fits Into Our Workflow?</a:t>
            </a:r>
          </a:p>
        </p:txBody>
      </p:sp>
      <p:pic>
        <p:nvPicPr>
          <p:cNvPr id="6" name="Picture 5">
            <a:extLst>
              <a:ext uri="{FF2B5EF4-FFF2-40B4-BE49-F238E27FC236}">
                <a16:creationId xmlns:a16="http://schemas.microsoft.com/office/drawing/2014/main" id="{D1260B71-0A36-B371-3C25-2E89FB203ED3}"/>
              </a:ext>
            </a:extLst>
          </p:cNvPr>
          <p:cNvPicPr>
            <a:picLocks noChangeAspect="1"/>
          </p:cNvPicPr>
          <p:nvPr/>
        </p:nvPicPr>
        <p:blipFill>
          <a:blip r:embed="rId2"/>
          <a:stretch>
            <a:fillRect/>
          </a:stretch>
        </p:blipFill>
        <p:spPr>
          <a:xfrm>
            <a:off x="1513840" y="1452880"/>
            <a:ext cx="9540240" cy="47701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527C4-F81C-ED6B-051D-53C941707003}"/>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E7F8D988-2DB9-47ED-5808-8062EEA2C29B}"/>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3B02B64-7AA7-A9FB-3C66-26E672B3A684}"/>
              </a:ext>
            </a:extLst>
          </p:cNvPr>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REFERENCES</a:t>
            </a:r>
          </a:p>
        </p:txBody>
      </p:sp>
      <p:sp>
        <p:nvSpPr>
          <p:cNvPr id="6" name="TextBox 5">
            <a:extLst>
              <a:ext uri="{FF2B5EF4-FFF2-40B4-BE49-F238E27FC236}">
                <a16:creationId xmlns:a16="http://schemas.microsoft.com/office/drawing/2014/main" id="{AEB12FD5-D391-9280-ED3A-13046C49144D}"/>
              </a:ext>
            </a:extLst>
          </p:cNvPr>
          <p:cNvSpPr txBox="1"/>
          <p:nvPr/>
        </p:nvSpPr>
        <p:spPr>
          <a:xfrm>
            <a:off x="1342052" y="806448"/>
            <a:ext cx="9507894" cy="5594096"/>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 </a:t>
            </a:r>
            <a:r>
              <a:rPr lang="en-IN" sz="1600" dirty="0" err="1">
                <a:latin typeface="Times New Roman" panose="02020603050405020304" pitchFamily="18" charset="0"/>
                <a:cs typeface="Times New Roman" panose="02020603050405020304" pitchFamily="18" charset="0"/>
              </a:rPr>
              <a:t>Rozière</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"Code Llama: Open Foundation Models for Code,"</a:t>
            </a:r>
            <a:r>
              <a:rPr lang="en-IN" sz="1600" dirty="0">
                <a:latin typeface="Times New Roman" panose="02020603050405020304" pitchFamily="18" charset="0"/>
                <a:cs typeface="Times New Roman" panose="02020603050405020304" pitchFamily="18" charset="0"/>
              </a:rPr>
              <a:t> Meta AI, 2023.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Z. Feng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CodeBERT</a:t>
            </a:r>
            <a:r>
              <a:rPr lang="en-IN" sz="1600" b="1" dirty="0">
                <a:latin typeface="Times New Roman" panose="02020603050405020304" pitchFamily="18" charset="0"/>
                <a:cs typeface="Times New Roman" panose="02020603050405020304" pitchFamily="18" charset="0"/>
              </a:rPr>
              <a:t>: A Pre-Trained Model for Programming and Natural Languages,"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Findings of EMNLP</a:t>
            </a:r>
            <a:r>
              <a:rPr lang="en-IN" sz="1600" dirty="0">
                <a:latin typeface="Times New Roman" panose="02020603050405020304" pitchFamily="18" charset="0"/>
                <a:cs typeface="Times New Roman" panose="02020603050405020304" pitchFamily="18" charset="0"/>
              </a:rPr>
              <a:t>, 2020.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 Lu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CodeXGLUE</a:t>
            </a:r>
            <a:r>
              <a:rPr lang="en-IN" sz="1600" b="1" dirty="0">
                <a:latin typeface="Times New Roman" panose="02020603050405020304" pitchFamily="18" charset="0"/>
                <a:cs typeface="Times New Roman" panose="02020603050405020304" pitchFamily="18" charset="0"/>
              </a:rPr>
              <a:t>: A Machine Learning Benchmark Dataset for Code Understanding and Generation,"</a:t>
            </a:r>
            <a:r>
              <a:rPr lang="en-IN" sz="1600" dirty="0">
                <a:latin typeface="Times New Roman" panose="02020603050405020304" pitchFamily="18" charset="0"/>
                <a:cs typeface="Times New Roman" panose="02020603050405020304" pitchFamily="18" charset="0"/>
              </a:rPr>
              <a:t> </a:t>
            </a:r>
            <a:r>
              <a:rPr lang="en-IN" sz="1600" i="1" dirty="0" err="1">
                <a:latin typeface="Times New Roman" panose="02020603050405020304" pitchFamily="18" charset="0"/>
                <a:cs typeface="Times New Roman" panose="02020603050405020304" pitchFamily="18" charset="0"/>
              </a:rPr>
              <a:t>NeurIPS</a:t>
            </a:r>
            <a:r>
              <a:rPr lang="en-IN" sz="1600" i="1" dirty="0">
                <a:latin typeface="Times New Roman" panose="02020603050405020304" pitchFamily="18" charset="0"/>
                <a:cs typeface="Times New Roman" panose="02020603050405020304" pitchFamily="18" charset="0"/>
              </a:rPr>
              <a:t> Datasets and Benchmarks</a:t>
            </a:r>
            <a:r>
              <a:rPr lang="en-IN" sz="1600" dirty="0">
                <a:latin typeface="Times New Roman" panose="02020603050405020304" pitchFamily="18" charset="0"/>
                <a:cs typeface="Times New Roman" panose="02020603050405020304" pitchFamily="18" charset="0"/>
              </a:rPr>
              <a:t>, 2021.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 Husain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t>
            </a:r>
            <a:r>
              <a:rPr lang="en-IN" sz="1600" b="1" dirty="0" err="1">
                <a:latin typeface="Times New Roman" panose="02020603050405020304" pitchFamily="18" charset="0"/>
                <a:cs typeface="Times New Roman" panose="02020603050405020304" pitchFamily="18" charset="0"/>
              </a:rPr>
              <a:t>CodeSearchNet</a:t>
            </a:r>
            <a:r>
              <a:rPr lang="en-IN" sz="1600" b="1" dirty="0">
                <a:latin typeface="Times New Roman" panose="02020603050405020304" pitchFamily="18" charset="0"/>
                <a:cs typeface="Times New Roman" panose="02020603050405020304" pitchFamily="18" charset="0"/>
              </a:rPr>
              <a:t> Challenge: Evaluating the State of Semantic Code Search,"</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Empirical Software Engineering</a:t>
            </a:r>
            <a:r>
              <a:rPr lang="en-IN" sz="1600" dirty="0">
                <a:latin typeface="Times New Roman" panose="02020603050405020304" pitchFamily="18" charset="0"/>
                <a:cs typeface="Times New Roman" panose="02020603050405020304" pitchFamily="18" charset="0"/>
              </a:rPr>
              <a:t>, 2021.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J. Johnson, M. </a:t>
            </a:r>
            <a:r>
              <a:rPr lang="en-IN" sz="1600" dirty="0" err="1">
                <a:latin typeface="Times New Roman" panose="02020603050405020304" pitchFamily="18" charset="0"/>
                <a:cs typeface="Times New Roman" panose="02020603050405020304" pitchFamily="18" charset="0"/>
              </a:rPr>
              <a:t>Douze</a:t>
            </a:r>
            <a:r>
              <a:rPr lang="en-IN" sz="1600" dirty="0">
                <a:latin typeface="Times New Roman" panose="02020603050405020304" pitchFamily="18" charset="0"/>
                <a:cs typeface="Times New Roman" panose="02020603050405020304" pitchFamily="18" charset="0"/>
              </a:rPr>
              <a:t>, and H. Jégou, </a:t>
            </a:r>
            <a:r>
              <a:rPr lang="en-IN" sz="1600" b="1" dirty="0">
                <a:latin typeface="Times New Roman" panose="02020603050405020304" pitchFamily="18" charset="0"/>
                <a:cs typeface="Times New Roman" panose="02020603050405020304" pitchFamily="18" charset="0"/>
              </a:rPr>
              <a:t>"Billion-scale Similarity Search with GPUs (FAISS),"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IEEE Transactions on Big Data</a:t>
            </a:r>
            <a:r>
              <a:rPr lang="en-IN" sz="1600" dirty="0">
                <a:latin typeface="Times New Roman" panose="02020603050405020304" pitchFamily="18" charset="0"/>
                <a:cs typeface="Times New Roman" panose="02020603050405020304" pitchFamily="18" charset="0"/>
              </a:rPr>
              <a:t>, 2019. </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 Lewis </a:t>
            </a:r>
            <a:r>
              <a:rPr lang="en-IN" sz="1600" i="1" dirty="0">
                <a:latin typeface="Times New Roman" panose="02020603050405020304" pitchFamily="18" charset="0"/>
                <a:cs typeface="Times New Roman" panose="02020603050405020304" pitchFamily="18" charset="0"/>
              </a:rPr>
              <a:t>et al.</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"Retrieval-Augmented Generation for Knowledge-Intensive NLP Tasks,"</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Advances in Neural Information Processing Systems (</a:t>
            </a:r>
            <a:r>
              <a:rPr lang="en-IN" sz="1600" i="1" dirty="0" err="1">
                <a:latin typeface="Times New Roman" panose="02020603050405020304" pitchFamily="18" charset="0"/>
                <a:cs typeface="Times New Roman" panose="02020603050405020304" pitchFamily="18" charset="0"/>
              </a:rPr>
              <a:t>NeurIPS</a:t>
            </a:r>
            <a:r>
              <a:rPr lang="en-IN" sz="1600" i="1"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2020.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"AI-powered Code Review with Large Language Models: Early Results,"</a:t>
            </a:r>
            <a:r>
              <a:rPr lang="en-IN" sz="1600" dirty="0">
                <a:latin typeface="Times New Roman" panose="02020603050405020304" pitchFamily="18" charset="0"/>
                <a:cs typeface="Times New Roman" panose="02020603050405020304" pitchFamily="18" charset="0"/>
              </a:rPr>
              <a:t> 2024.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"An Insight into Security Code Review with Large Language Models,"</a:t>
            </a:r>
            <a:r>
              <a:rPr lang="en-IN" sz="1600" dirty="0">
                <a:latin typeface="Times New Roman" panose="02020603050405020304" pitchFamily="18" charset="0"/>
                <a:cs typeface="Times New Roman" panose="02020603050405020304" pitchFamily="18" charset="0"/>
              </a:rPr>
              <a:t> 2024.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"Evaluating Source Code Quality with Large Language Models,"</a:t>
            </a:r>
            <a:r>
              <a:rPr lang="en-IN" sz="1600" dirty="0">
                <a:latin typeface="Times New Roman" panose="02020603050405020304" pitchFamily="18" charset="0"/>
                <a:cs typeface="Times New Roman" panose="02020603050405020304" pitchFamily="18" charset="0"/>
              </a:rPr>
              <a:t> 2024. </a:t>
            </a:r>
          </a:p>
          <a:p>
            <a:pPr marL="285750" lvl="0" indent="-285750">
              <a:lnSpc>
                <a:spcPct val="150000"/>
              </a:lnSpc>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"Combining Large Language Models with Static Analysis for Automated Code Review,"</a:t>
            </a:r>
            <a:r>
              <a:rPr lang="en-IN" sz="1600" dirty="0">
                <a:latin typeface="Times New Roman" panose="02020603050405020304" pitchFamily="18" charset="0"/>
                <a:cs typeface="Times New Roman" panose="02020603050405020304" pitchFamily="18" charset="0"/>
              </a:rPr>
              <a:t> 2025.</a:t>
            </a:r>
          </a:p>
        </p:txBody>
      </p:sp>
    </p:spTree>
    <p:extLst>
      <p:ext uri="{BB962C8B-B14F-4D97-AF65-F5344CB8AC3E}">
        <p14:creationId xmlns:p14="http://schemas.microsoft.com/office/powerpoint/2010/main" val="1347536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365</TotalTime>
  <Words>1169</Words>
  <Application>Microsoft Office PowerPoint</Application>
  <PresentationFormat>Widescreen</PresentationFormat>
  <Paragraphs>202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       APPLIED MACHINE LEARNING FOR TEXT ANALYSIS (24ALT3101)  AI Copilot Code Review using Large Language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B SRIHITHA 2420030099</cp:lastModifiedBy>
  <cp:revision>25</cp:revision>
  <dcterms:created xsi:type="dcterms:W3CDTF">2024-08-29T05:25:00Z</dcterms:created>
  <dcterms:modified xsi:type="dcterms:W3CDTF">2026-08-07T05:56:03Z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